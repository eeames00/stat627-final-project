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3"/>
  </p:handoutMasterIdLst>
  <p:sldIdLst>
    <p:sldId id="256" r:id="rId2"/>
  </p:sldIdLst>
  <p:sldSz cx="16202025" cy="25203150"/>
  <p:notesSz cx="6759575" cy="9867900"/>
  <p:defaultTextStyle>
    <a:defPPr>
      <a:defRPr lang="en-GB"/>
    </a:defPPr>
    <a:lvl1pPr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5pPr>
    <a:lvl6pPr marL="2286000" algn="l" defTabSz="914400" rtl="0" eaLnBrk="1" latinLnBrk="0" hangingPunct="1">
      <a:defRPr sz="7500" kern="1200">
        <a:solidFill>
          <a:schemeClr val="tx1"/>
        </a:solidFill>
        <a:latin typeface="Times New Roman" panose="02020603050405020304" pitchFamily="18" charset="0"/>
        <a:ea typeface="+mn-ea"/>
        <a:cs typeface="+mn-cs"/>
      </a:defRPr>
    </a:lvl6pPr>
    <a:lvl7pPr marL="2743200" algn="l" defTabSz="914400" rtl="0" eaLnBrk="1" latinLnBrk="0" hangingPunct="1">
      <a:defRPr sz="7500" kern="1200">
        <a:solidFill>
          <a:schemeClr val="tx1"/>
        </a:solidFill>
        <a:latin typeface="Times New Roman" panose="02020603050405020304" pitchFamily="18" charset="0"/>
        <a:ea typeface="+mn-ea"/>
        <a:cs typeface="+mn-cs"/>
      </a:defRPr>
    </a:lvl7pPr>
    <a:lvl8pPr marL="3200400" algn="l" defTabSz="914400" rtl="0" eaLnBrk="1" latinLnBrk="0" hangingPunct="1">
      <a:defRPr sz="7500" kern="1200">
        <a:solidFill>
          <a:schemeClr val="tx1"/>
        </a:solidFill>
        <a:latin typeface="Times New Roman" panose="02020603050405020304" pitchFamily="18" charset="0"/>
        <a:ea typeface="+mn-ea"/>
        <a:cs typeface="+mn-cs"/>
      </a:defRPr>
    </a:lvl8pPr>
    <a:lvl9pPr marL="3657600" algn="l" defTabSz="914400" rtl="0" eaLnBrk="1" latinLnBrk="0" hangingPunct="1">
      <a:defRPr sz="75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939">
          <p15:clr>
            <a:srgbClr val="A4A3A4"/>
          </p15:clr>
        </p15:guide>
        <p15:guide id="2" pos="51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54" autoAdjust="0"/>
    <p:restoredTop sz="96301" autoAdjust="0"/>
  </p:normalViewPr>
  <p:slideViewPr>
    <p:cSldViewPr>
      <p:cViewPr>
        <p:scale>
          <a:sx n="80" d="100"/>
          <a:sy n="80" d="100"/>
        </p:scale>
        <p:origin x="1816" y="-944"/>
      </p:cViewPr>
      <p:guideLst>
        <p:guide orient="horz" pos="7939"/>
        <p:guide pos="51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2"/>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4C46464-BD18-9CA7-92DB-9F47B7D175C2}"/>
              </a:ext>
            </a:extLst>
          </p:cNvPr>
          <p:cNvSpPr>
            <a:spLocks noGrp="1" noChangeArrowheads="1"/>
          </p:cNvSpPr>
          <p:nvPr>
            <p:ph type="hdr" sz="quarter"/>
          </p:nvPr>
        </p:nvSpPr>
        <p:spPr bwMode="auto">
          <a:xfrm>
            <a:off x="0" y="0"/>
            <a:ext cx="2928938"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defTabSz="906463">
              <a:defRPr sz="1200"/>
            </a:lvl1pPr>
          </a:lstStyle>
          <a:p>
            <a:pPr>
              <a:defRPr/>
            </a:pPr>
            <a:endParaRPr lang="zh-CN" altLang="en-GB"/>
          </a:p>
        </p:txBody>
      </p:sp>
      <p:sp>
        <p:nvSpPr>
          <p:cNvPr id="4099" name="Rectangle 3">
            <a:extLst>
              <a:ext uri="{FF2B5EF4-FFF2-40B4-BE49-F238E27FC236}">
                <a16:creationId xmlns:a16="http://schemas.microsoft.com/office/drawing/2014/main" id="{627F61AE-CBF7-0EDA-6D57-410497DFE2B8}"/>
              </a:ext>
            </a:extLst>
          </p:cNvPr>
          <p:cNvSpPr>
            <a:spLocks noGrp="1" noChangeArrowheads="1"/>
          </p:cNvSpPr>
          <p:nvPr>
            <p:ph type="dt" sz="quarter" idx="1"/>
          </p:nvPr>
        </p:nvSpPr>
        <p:spPr bwMode="auto">
          <a:xfrm>
            <a:off x="3830638" y="0"/>
            <a:ext cx="2928937"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algn="r" defTabSz="906463">
              <a:defRPr sz="1200"/>
            </a:lvl1pPr>
          </a:lstStyle>
          <a:p>
            <a:pPr>
              <a:defRPr/>
            </a:pPr>
            <a:endParaRPr lang="en-GB" altLang="zh-CN"/>
          </a:p>
        </p:txBody>
      </p:sp>
      <p:sp>
        <p:nvSpPr>
          <p:cNvPr id="4100" name="Rectangle 4">
            <a:extLst>
              <a:ext uri="{FF2B5EF4-FFF2-40B4-BE49-F238E27FC236}">
                <a16:creationId xmlns:a16="http://schemas.microsoft.com/office/drawing/2014/main" id="{3A8857BE-19DF-C59A-3163-EEDD3D462967}"/>
              </a:ext>
            </a:extLst>
          </p:cNvPr>
          <p:cNvSpPr>
            <a:spLocks noGrp="1" noChangeArrowheads="1"/>
          </p:cNvSpPr>
          <p:nvPr>
            <p:ph type="ftr" sz="quarter" idx="2"/>
          </p:nvPr>
        </p:nvSpPr>
        <p:spPr bwMode="auto">
          <a:xfrm>
            <a:off x="0" y="9375775"/>
            <a:ext cx="2928938"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defTabSz="906463">
              <a:defRPr sz="1200"/>
            </a:lvl1pPr>
          </a:lstStyle>
          <a:p>
            <a:pPr>
              <a:defRPr/>
            </a:pPr>
            <a:endParaRPr lang="en-GB" altLang="zh-CN"/>
          </a:p>
        </p:txBody>
      </p:sp>
      <p:sp>
        <p:nvSpPr>
          <p:cNvPr id="4101" name="Rectangle 5">
            <a:extLst>
              <a:ext uri="{FF2B5EF4-FFF2-40B4-BE49-F238E27FC236}">
                <a16:creationId xmlns:a16="http://schemas.microsoft.com/office/drawing/2014/main" id="{C9C5C9FE-AAC2-92A1-18D2-3D3D42BB7241}"/>
              </a:ext>
            </a:extLst>
          </p:cNvPr>
          <p:cNvSpPr>
            <a:spLocks noGrp="1" noChangeArrowheads="1"/>
          </p:cNvSpPr>
          <p:nvPr>
            <p:ph type="sldNum" sz="quarter" idx="3"/>
          </p:nvPr>
        </p:nvSpPr>
        <p:spPr bwMode="auto">
          <a:xfrm>
            <a:off x="3830638" y="9375775"/>
            <a:ext cx="2928937"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algn="r" defTabSz="906463">
              <a:defRPr sz="1200"/>
            </a:lvl1pPr>
          </a:lstStyle>
          <a:p>
            <a:pPr>
              <a:defRPr/>
            </a:pPr>
            <a:fld id="{5F400E84-82A2-7A49-9618-17F99DEB6CA9}"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14438" y="7829550"/>
            <a:ext cx="13773150" cy="5402263"/>
          </a:xfrm>
        </p:spPr>
        <p:txBody>
          <a:bodyPr/>
          <a:lstStyle/>
          <a:p>
            <a:r>
              <a:rPr lang="zh-CN" altLang="en-US"/>
              <a:t>单击此处编辑母版标题样式</a:t>
            </a:r>
          </a:p>
        </p:txBody>
      </p:sp>
      <p:sp>
        <p:nvSpPr>
          <p:cNvPr id="3" name="副标题 2"/>
          <p:cNvSpPr>
            <a:spLocks noGrp="1"/>
          </p:cNvSpPr>
          <p:nvPr>
            <p:ph type="subTitle" idx="1"/>
          </p:nvPr>
        </p:nvSpPr>
        <p:spPr>
          <a:xfrm>
            <a:off x="2430463" y="14281150"/>
            <a:ext cx="11341100" cy="64420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632C106-3AEA-0486-04BE-920365B96E86}"/>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D840FDC9-523D-50A2-0CF1-0AE70940D4E2}"/>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7C96A7F1-FFB7-638A-0065-0835B9EE9B9E}"/>
              </a:ext>
            </a:extLst>
          </p:cNvPr>
          <p:cNvSpPr>
            <a:spLocks noGrp="1" noChangeArrowheads="1"/>
          </p:cNvSpPr>
          <p:nvPr>
            <p:ph type="sldNum" sz="quarter" idx="12"/>
          </p:nvPr>
        </p:nvSpPr>
        <p:spPr>
          <a:ln/>
        </p:spPr>
        <p:txBody>
          <a:bodyPr/>
          <a:lstStyle>
            <a:lvl1pPr>
              <a:defRPr/>
            </a:lvl1pPr>
          </a:lstStyle>
          <a:p>
            <a:pPr>
              <a:defRPr/>
            </a:pPr>
            <a:fld id="{C5FC9E17-AF25-3447-BBC6-5707B1172DDC}" type="slidenum">
              <a:rPr lang="zh-CN" altLang="en-GB"/>
              <a:pPr>
                <a:defRPr/>
              </a:pPr>
              <a:t>‹#›</a:t>
            </a:fld>
            <a:endParaRPr lang="en-GB" altLang="zh-CN"/>
          </a:p>
        </p:txBody>
      </p:sp>
    </p:spTree>
    <p:extLst>
      <p:ext uri="{BB962C8B-B14F-4D97-AF65-F5344CB8AC3E}">
        <p14:creationId xmlns:p14="http://schemas.microsoft.com/office/powerpoint/2010/main" val="4055342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A851ED5-553F-1A1D-51D9-D4BB2559E712}"/>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BC822411-EED4-D427-B637-1F10B769D2C2}"/>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902B8442-02FF-85DD-E4B6-F855EDBD92F2}"/>
              </a:ext>
            </a:extLst>
          </p:cNvPr>
          <p:cNvSpPr>
            <a:spLocks noGrp="1" noChangeArrowheads="1"/>
          </p:cNvSpPr>
          <p:nvPr>
            <p:ph type="sldNum" sz="quarter" idx="12"/>
          </p:nvPr>
        </p:nvSpPr>
        <p:spPr>
          <a:ln/>
        </p:spPr>
        <p:txBody>
          <a:bodyPr/>
          <a:lstStyle>
            <a:lvl1pPr>
              <a:defRPr/>
            </a:lvl1pPr>
          </a:lstStyle>
          <a:p>
            <a:pPr>
              <a:defRPr/>
            </a:pPr>
            <a:fld id="{88FFE9C8-CABC-0D48-BD72-F1FC22B46E4E}" type="slidenum">
              <a:rPr lang="zh-CN" altLang="en-GB"/>
              <a:pPr>
                <a:defRPr/>
              </a:pPr>
              <a:t>‹#›</a:t>
            </a:fld>
            <a:endParaRPr lang="en-GB" altLang="zh-CN"/>
          </a:p>
        </p:txBody>
      </p:sp>
    </p:spTree>
    <p:extLst>
      <p:ext uri="{BB962C8B-B14F-4D97-AF65-F5344CB8AC3E}">
        <p14:creationId xmlns:p14="http://schemas.microsoft.com/office/powerpoint/2010/main" val="4077068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79525" y="16195675"/>
            <a:ext cx="13771563" cy="5005388"/>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1279525" y="10682288"/>
            <a:ext cx="13771563" cy="55133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26FA44D-3431-FEA7-AC6C-D9976176A907}"/>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E736AD2E-EFD1-9A19-5927-BB20DEF7E744}"/>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4F864582-DF3C-3AE4-819D-B61E6B9088CD}"/>
              </a:ext>
            </a:extLst>
          </p:cNvPr>
          <p:cNvSpPr>
            <a:spLocks noGrp="1" noChangeArrowheads="1"/>
          </p:cNvSpPr>
          <p:nvPr>
            <p:ph type="sldNum" sz="quarter" idx="12"/>
          </p:nvPr>
        </p:nvSpPr>
        <p:spPr>
          <a:ln/>
        </p:spPr>
        <p:txBody>
          <a:bodyPr/>
          <a:lstStyle>
            <a:lvl1pPr>
              <a:defRPr/>
            </a:lvl1pPr>
          </a:lstStyle>
          <a:p>
            <a:pPr>
              <a:defRPr/>
            </a:pPr>
            <a:fld id="{5F515C3B-2B5B-E142-A4FD-C706BA107D9D}" type="slidenum">
              <a:rPr lang="zh-CN" altLang="en-GB"/>
              <a:pPr>
                <a:defRPr/>
              </a:pPr>
              <a:t>‹#›</a:t>
            </a:fld>
            <a:endParaRPr lang="en-GB" altLang="zh-CN"/>
          </a:p>
        </p:txBody>
      </p:sp>
    </p:spTree>
    <p:extLst>
      <p:ext uri="{BB962C8B-B14F-4D97-AF65-F5344CB8AC3E}">
        <p14:creationId xmlns:p14="http://schemas.microsoft.com/office/powerpoint/2010/main" val="3666557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214438"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8177213"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48F8826-E793-A94A-DDDF-6765EE9B50D3}"/>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84FD8B88-6B9E-16BA-95AC-E14DD335DDF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C2B9598E-B5B4-F122-74BB-5C5B61CC29E1}"/>
              </a:ext>
            </a:extLst>
          </p:cNvPr>
          <p:cNvSpPr>
            <a:spLocks noGrp="1" noChangeArrowheads="1"/>
          </p:cNvSpPr>
          <p:nvPr>
            <p:ph type="sldNum" sz="quarter" idx="12"/>
          </p:nvPr>
        </p:nvSpPr>
        <p:spPr>
          <a:ln/>
        </p:spPr>
        <p:txBody>
          <a:bodyPr/>
          <a:lstStyle>
            <a:lvl1pPr>
              <a:defRPr/>
            </a:lvl1pPr>
          </a:lstStyle>
          <a:p>
            <a:pPr>
              <a:defRPr/>
            </a:pPr>
            <a:fld id="{704C1C19-253D-FF45-8FF1-2D25B81E525B}" type="slidenum">
              <a:rPr lang="zh-CN" altLang="en-GB"/>
              <a:pPr>
                <a:defRPr/>
              </a:pPr>
              <a:t>‹#›</a:t>
            </a:fld>
            <a:endParaRPr lang="en-GB" altLang="zh-CN"/>
          </a:p>
        </p:txBody>
      </p:sp>
    </p:spTree>
    <p:extLst>
      <p:ext uri="{BB962C8B-B14F-4D97-AF65-F5344CB8AC3E}">
        <p14:creationId xmlns:p14="http://schemas.microsoft.com/office/powerpoint/2010/main" val="3094900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9650"/>
            <a:ext cx="14582775" cy="4200525"/>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809625" y="5641975"/>
            <a:ext cx="7159625"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09625" y="7993063"/>
            <a:ext cx="7159625"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8231188" y="5641975"/>
            <a:ext cx="7161212"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8231188" y="7993063"/>
            <a:ext cx="7161212"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2A2CF28-07D6-31E5-4F70-79D6A41DD8DB}"/>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8" name="Rectangle 5">
            <a:extLst>
              <a:ext uri="{FF2B5EF4-FFF2-40B4-BE49-F238E27FC236}">
                <a16:creationId xmlns:a16="http://schemas.microsoft.com/office/drawing/2014/main" id="{24B7D20D-E7B6-4840-B5D1-28F0162D0284}"/>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9" name="Rectangle 6">
            <a:extLst>
              <a:ext uri="{FF2B5EF4-FFF2-40B4-BE49-F238E27FC236}">
                <a16:creationId xmlns:a16="http://schemas.microsoft.com/office/drawing/2014/main" id="{A04CD73B-0459-E573-7BB8-5FD0405D1AA1}"/>
              </a:ext>
            </a:extLst>
          </p:cNvPr>
          <p:cNvSpPr>
            <a:spLocks noGrp="1" noChangeArrowheads="1"/>
          </p:cNvSpPr>
          <p:nvPr>
            <p:ph type="sldNum" sz="quarter" idx="12"/>
          </p:nvPr>
        </p:nvSpPr>
        <p:spPr>
          <a:ln/>
        </p:spPr>
        <p:txBody>
          <a:bodyPr/>
          <a:lstStyle>
            <a:lvl1pPr>
              <a:defRPr/>
            </a:lvl1pPr>
          </a:lstStyle>
          <a:p>
            <a:pPr>
              <a:defRPr/>
            </a:pPr>
            <a:fld id="{43C0349E-EAFC-7449-804E-79ABAA4BD07C}" type="slidenum">
              <a:rPr lang="zh-CN" altLang="en-GB"/>
              <a:pPr>
                <a:defRPr/>
              </a:pPr>
              <a:t>‹#›</a:t>
            </a:fld>
            <a:endParaRPr lang="en-GB" altLang="zh-CN"/>
          </a:p>
        </p:txBody>
      </p:sp>
    </p:spTree>
    <p:extLst>
      <p:ext uri="{BB962C8B-B14F-4D97-AF65-F5344CB8AC3E}">
        <p14:creationId xmlns:p14="http://schemas.microsoft.com/office/powerpoint/2010/main" val="139300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4F4718DB-8D81-4A48-07FC-ED6D61D17AB2}"/>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4" name="Rectangle 5">
            <a:extLst>
              <a:ext uri="{FF2B5EF4-FFF2-40B4-BE49-F238E27FC236}">
                <a16:creationId xmlns:a16="http://schemas.microsoft.com/office/drawing/2014/main" id="{066E4431-36D8-3B9E-712A-5518760C61F1}"/>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5" name="Rectangle 6">
            <a:extLst>
              <a:ext uri="{FF2B5EF4-FFF2-40B4-BE49-F238E27FC236}">
                <a16:creationId xmlns:a16="http://schemas.microsoft.com/office/drawing/2014/main" id="{7BC06F14-841B-5CDF-ECEE-863EEBC8023F}"/>
              </a:ext>
            </a:extLst>
          </p:cNvPr>
          <p:cNvSpPr>
            <a:spLocks noGrp="1" noChangeArrowheads="1"/>
          </p:cNvSpPr>
          <p:nvPr>
            <p:ph type="sldNum" sz="quarter" idx="12"/>
          </p:nvPr>
        </p:nvSpPr>
        <p:spPr>
          <a:ln/>
        </p:spPr>
        <p:txBody>
          <a:bodyPr/>
          <a:lstStyle>
            <a:lvl1pPr>
              <a:defRPr/>
            </a:lvl1pPr>
          </a:lstStyle>
          <a:p>
            <a:pPr>
              <a:defRPr/>
            </a:pPr>
            <a:fld id="{8A943D8D-3FBE-D248-B7F1-99CC683D23B8}" type="slidenum">
              <a:rPr lang="zh-CN" altLang="en-GB"/>
              <a:pPr>
                <a:defRPr/>
              </a:pPr>
              <a:t>‹#›</a:t>
            </a:fld>
            <a:endParaRPr lang="en-GB" altLang="zh-CN"/>
          </a:p>
        </p:txBody>
      </p:sp>
    </p:spTree>
    <p:extLst>
      <p:ext uri="{BB962C8B-B14F-4D97-AF65-F5344CB8AC3E}">
        <p14:creationId xmlns:p14="http://schemas.microsoft.com/office/powerpoint/2010/main" val="200955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40E22A4-8FDD-20F9-66EA-8547A26D3300}"/>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3" name="Rectangle 5">
            <a:extLst>
              <a:ext uri="{FF2B5EF4-FFF2-40B4-BE49-F238E27FC236}">
                <a16:creationId xmlns:a16="http://schemas.microsoft.com/office/drawing/2014/main" id="{B6F57ED6-8F46-7C63-9B19-BB6054F21F0A}"/>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4" name="Rectangle 6">
            <a:extLst>
              <a:ext uri="{FF2B5EF4-FFF2-40B4-BE49-F238E27FC236}">
                <a16:creationId xmlns:a16="http://schemas.microsoft.com/office/drawing/2014/main" id="{36CE5C81-E03A-2E40-8F8C-36F6E145510A}"/>
              </a:ext>
            </a:extLst>
          </p:cNvPr>
          <p:cNvSpPr>
            <a:spLocks noGrp="1" noChangeArrowheads="1"/>
          </p:cNvSpPr>
          <p:nvPr>
            <p:ph type="sldNum" sz="quarter" idx="12"/>
          </p:nvPr>
        </p:nvSpPr>
        <p:spPr>
          <a:ln/>
        </p:spPr>
        <p:txBody>
          <a:bodyPr/>
          <a:lstStyle>
            <a:lvl1pPr>
              <a:defRPr/>
            </a:lvl1pPr>
          </a:lstStyle>
          <a:p>
            <a:pPr>
              <a:defRPr/>
            </a:pPr>
            <a:fld id="{B55DE359-1679-9849-ACA4-5E5D0A83DBCD}" type="slidenum">
              <a:rPr lang="zh-CN" altLang="en-GB"/>
              <a:pPr>
                <a:defRPr/>
              </a:pPr>
              <a:t>‹#›</a:t>
            </a:fld>
            <a:endParaRPr lang="en-GB" altLang="zh-CN"/>
          </a:p>
        </p:txBody>
      </p:sp>
    </p:spTree>
    <p:extLst>
      <p:ext uri="{BB962C8B-B14F-4D97-AF65-F5344CB8AC3E}">
        <p14:creationId xmlns:p14="http://schemas.microsoft.com/office/powerpoint/2010/main" val="4156214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3300"/>
            <a:ext cx="5330825" cy="4270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6334125" y="1003300"/>
            <a:ext cx="9058275" cy="21510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09625" y="5273675"/>
            <a:ext cx="5330825" cy="17240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6FEE695-B2F3-E09D-69CD-CB2E448E7E5A}"/>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72FF0224-2309-1EF2-9C20-8F21ADC02EBE}"/>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435740AE-51BC-16A5-63A4-F7A49825BF6D}"/>
              </a:ext>
            </a:extLst>
          </p:cNvPr>
          <p:cNvSpPr>
            <a:spLocks noGrp="1" noChangeArrowheads="1"/>
          </p:cNvSpPr>
          <p:nvPr>
            <p:ph type="sldNum" sz="quarter" idx="12"/>
          </p:nvPr>
        </p:nvSpPr>
        <p:spPr>
          <a:ln/>
        </p:spPr>
        <p:txBody>
          <a:bodyPr/>
          <a:lstStyle>
            <a:lvl1pPr>
              <a:defRPr/>
            </a:lvl1pPr>
          </a:lstStyle>
          <a:p>
            <a:pPr>
              <a:defRPr/>
            </a:pPr>
            <a:fld id="{E1E62D17-E8E3-2840-9AE8-2C4CCF79AD4E}" type="slidenum">
              <a:rPr lang="zh-CN" altLang="en-GB"/>
              <a:pPr>
                <a:defRPr/>
              </a:pPr>
              <a:t>‹#›</a:t>
            </a:fld>
            <a:endParaRPr lang="en-GB" altLang="zh-CN"/>
          </a:p>
        </p:txBody>
      </p:sp>
    </p:spTree>
    <p:extLst>
      <p:ext uri="{BB962C8B-B14F-4D97-AF65-F5344CB8AC3E}">
        <p14:creationId xmlns:p14="http://schemas.microsoft.com/office/powerpoint/2010/main" val="2840450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5000" y="17641888"/>
            <a:ext cx="9721850" cy="208280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3175000" y="2252663"/>
            <a:ext cx="9721850" cy="151209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3175000" y="19724688"/>
            <a:ext cx="9721850" cy="2957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5927681-4E1E-98BC-1471-29F69065C1A6}"/>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F3C9E2C8-35B0-BFA5-0852-E9425AB2E039}"/>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B349D5A5-A493-0058-11E3-9D87C08D8A67}"/>
              </a:ext>
            </a:extLst>
          </p:cNvPr>
          <p:cNvSpPr>
            <a:spLocks noGrp="1" noChangeArrowheads="1"/>
          </p:cNvSpPr>
          <p:nvPr>
            <p:ph type="sldNum" sz="quarter" idx="12"/>
          </p:nvPr>
        </p:nvSpPr>
        <p:spPr>
          <a:ln/>
        </p:spPr>
        <p:txBody>
          <a:bodyPr/>
          <a:lstStyle>
            <a:lvl1pPr>
              <a:defRPr/>
            </a:lvl1pPr>
          </a:lstStyle>
          <a:p>
            <a:pPr>
              <a:defRPr/>
            </a:pPr>
            <a:fld id="{D6AA5E2A-06EE-A14F-A4B1-5C1D8C580AC5}" type="slidenum">
              <a:rPr lang="zh-CN" altLang="en-GB"/>
              <a:pPr>
                <a:defRPr/>
              </a:pPr>
              <a:t>‹#›</a:t>
            </a:fld>
            <a:endParaRPr lang="en-GB" altLang="zh-CN"/>
          </a:p>
        </p:txBody>
      </p:sp>
    </p:spTree>
    <p:extLst>
      <p:ext uri="{BB962C8B-B14F-4D97-AF65-F5344CB8AC3E}">
        <p14:creationId xmlns:p14="http://schemas.microsoft.com/office/powerpoint/2010/main" val="3990023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62FFB64-56FB-EE7F-6A36-29EA6B8CB40E}"/>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E6F94938-8B54-C5A9-1A9F-A73F2959996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5D44FFA5-6A28-8101-94B8-4800369FC32E}"/>
              </a:ext>
            </a:extLst>
          </p:cNvPr>
          <p:cNvSpPr>
            <a:spLocks noGrp="1" noChangeArrowheads="1"/>
          </p:cNvSpPr>
          <p:nvPr>
            <p:ph type="sldNum" sz="quarter" idx="12"/>
          </p:nvPr>
        </p:nvSpPr>
        <p:spPr>
          <a:ln/>
        </p:spPr>
        <p:txBody>
          <a:bodyPr/>
          <a:lstStyle>
            <a:lvl1pPr>
              <a:defRPr/>
            </a:lvl1pPr>
          </a:lstStyle>
          <a:p>
            <a:pPr>
              <a:defRPr/>
            </a:pPr>
            <a:fld id="{2824D211-EB83-0E47-B0E7-09B9CD29E352}" type="slidenum">
              <a:rPr lang="zh-CN" altLang="en-GB"/>
              <a:pPr>
                <a:defRPr/>
              </a:pPr>
              <a:t>‹#›</a:t>
            </a:fld>
            <a:endParaRPr lang="en-GB" altLang="zh-CN"/>
          </a:p>
        </p:txBody>
      </p:sp>
    </p:spTree>
    <p:extLst>
      <p:ext uri="{BB962C8B-B14F-4D97-AF65-F5344CB8AC3E}">
        <p14:creationId xmlns:p14="http://schemas.microsoft.com/office/powerpoint/2010/main" val="2671107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544300" y="2239963"/>
            <a:ext cx="3443288" cy="201628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14438" y="2239963"/>
            <a:ext cx="10177462" cy="20162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57B83EB-A9B6-2981-B308-A4B76BBA584E}"/>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14FB8651-1915-7570-0DE3-36948B7048A5}"/>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B73F4261-36FE-56FB-959B-86C9F075668B}"/>
              </a:ext>
            </a:extLst>
          </p:cNvPr>
          <p:cNvSpPr>
            <a:spLocks noGrp="1" noChangeArrowheads="1"/>
          </p:cNvSpPr>
          <p:nvPr>
            <p:ph type="sldNum" sz="quarter" idx="12"/>
          </p:nvPr>
        </p:nvSpPr>
        <p:spPr>
          <a:ln/>
        </p:spPr>
        <p:txBody>
          <a:bodyPr/>
          <a:lstStyle>
            <a:lvl1pPr>
              <a:defRPr/>
            </a:lvl1pPr>
          </a:lstStyle>
          <a:p>
            <a:pPr>
              <a:defRPr/>
            </a:pPr>
            <a:fld id="{8696D8BE-A482-F746-A996-3DA6538E9260}" type="slidenum">
              <a:rPr lang="zh-CN" altLang="en-GB"/>
              <a:pPr>
                <a:defRPr/>
              </a:pPr>
              <a:t>‹#›</a:t>
            </a:fld>
            <a:endParaRPr lang="en-GB" altLang="zh-CN"/>
          </a:p>
        </p:txBody>
      </p:sp>
    </p:spTree>
    <p:extLst>
      <p:ext uri="{BB962C8B-B14F-4D97-AF65-F5344CB8AC3E}">
        <p14:creationId xmlns:p14="http://schemas.microsoft.com/office/powerpoint/2010/main" val="4277750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CEB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CF40CD-6740-AD8D-A922-D2A755E531AC}"/>
              </a:ext>
            </a:extLst>
          </p:cNvPr>
          <p:cNvSpPr>
            <a:spLocks noGrp="1" noChangeArrowheads="1"/>
          </p:cNvSpPr>
          <p:nvPr>
            <p:ph type="title"/>
          </p:nvPr>
        </p:nvSpPr>
        <p:spPr bwMode="auto">
          <a:xfrm>
            <a:off x="1214438" y="2239963"/>
            <a:ext cx="13773150" cy="420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ctr" anchorCtr="0" compatLnSpc="1">
            <a:prstTxWarp prst="textNoShape">
              <a:avLst/>
            </a:prstTxWarp>
          </a:bodyPr>
          <a:lstStyle/>
          <a:p>
            <a:pPr lvl="0"/>
            <a:r>
              <a:rPr lang="en-GB" altLang="zh-CN"/>
              <a:t>Click to edit Master title style</a:t>
            </a:r>
          </a:p>
        </p:txBody>
      </p:sp>
      <p:sp>
        <p:nvSpPr>
          <p:cNvPr id="1027" name="Rectangle 3">
            <a:extLst>
              <a:ext uri="{FF2B5EF4-FFF2-40B4-BE49-F238E27FC236}">
                <a16:creationId xmlns:a16="http://schemas.microsoft.com/office/drawing/2014/main" id="{0A485347-4058-9B12-40A2-FA3E87BC1E20}"/>
              </a:ext>
            </a:extLst>
          </p:cNvPr>
          <p:cNvSpPr>
            <a:spLocks noGrp="1" noChangeArrowheads="1"/>
          </p:cNvSpPr>
          <p:nvPr>
            <p:ph type="body" idx="1"/>
          </p:nvPr>
        </p:nvSpPr>
        <p:spPr bwMode="auto">
          <a:xfrm>
            <a:off x="1214438" y="7278688"/>
            <a:ext cx="13773150" cy="151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1028" name="Rectangle 4">
            <a:extLst>
              <a:ext uri="{FF2B5EF4-FFF2-40B4-BE49-F238E27FC236}">
                <a16:creationId xmlns:a16="http://schemas.microsoft.com/office/drawing/2014/main" id="{8A893791-DAF6-1574-396B-9A9D78F377D0}"/>
              </a:ext>
            </a:extLst>
          </p:cNvPr>
          <p:cNvSpPr>
            <a:spLocks noGrp="1" noChangeArrowheads="1"/>
          </p:cNvSpPr>
          <p:nvPr>
            <p:ph type="dt" sz="half" idx="2"/>
          </p:nvPr>
        </p:nvSpPr>
        <p:spPr bwMode="auto">
          <a:xfrm>
            <a:off x="1214438" y="22963188"/>
            <a:ext cx="3376612"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defRPr sz="3400">
                <a:ea typeface="宋体" pitchFamily="2" charset="-122"/>
              </a:defRPr>
            </a:lvl1pPr>
          </a:lstStyle>
          <a:p>
            <a:pPr>
              <a:defRPr/>
            </a:pPr>
            <a:endParaRPr lang="en-GB" altLang="zh-CN"/>
          </a:p>
        </p:txBody>
      </p:sp>
      <p:sp>
        <p:nvSpPr>
          <p:cNvPr id="1029" name="Rectangle 5">
            <a:extLst>
              <a:ext uri="{FF2B5EF4-FFF2-40B4-BE49-F238E27FC236}">
                <a16:creationId xmlns:a16="http://schemas.microsoft.com/office/drawing/2014/main" id="{E10B90D6-296A-8132-1EB7-2FEC84ABE1AE}"/>
              </a:ext>
            </a:extLst>
          </p:cNvPr>
          <p:cNvSpPr>
            <a:spLocks noGrp="1" noChangeArrowheads="1"/>
          </p:cNvSpPr>
          <p:nvPr>
            <p:ph type="ftr" sz="quarter" idx="3"/>
          </p:nvPr>
        </p:nvSpPr>
        <p:spPr bwMode="auto">
          <a:xfrm>
            <a:off x="5535613" y="22963188"/>
            <a:ext cx="5130800"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ctr">
              <a:defRPr sz="3400">
                <a:ea typeface="宋体" pitchFamily="2" charset="-122"/>
              </a:defRPr>
            </a:lvl1pPr>
          </a:lstStyle>
          <a:p>
            <a:pPr>
              <a:defRPr/>
            </a:pPr>
            <a:endParaRPr lang="en-GB" altLang="zh-CN"/>
          </a:p>
        </p:txBody>
      </p:sp>
      <p:sp>
        <p:nvSpPr>
          <p:cNvPr id="1030" name="Rectangle 6">
            <a:extLst>
              <a:ext uri="{FF2B5EF4-FFF2-40B4-BE49-F238E27FC236}">
                <a16:creationId xmlns:a16="http://schemas.microsoft.com/office/drawing/2014/main" id="{C89B3E4A-E8AB-61AA-C93D-2960B907246C}"/>
              </a:ext>
            </a:extLst>
          </p:cNvPr>
          <p:cNvSpPr>
            <a:spLocks noGrp="1" noChangeArrowheads="1"/>
          </p:cNvSpPr>
          <p:nvPr>
            <p:ph type="sldNum" sz="quarter" idx="4"/>
          </p:nvPr>
        </p:nvSpPr>
        <p:spPr bwMode="auto">
          <a:xfrm>
            <a:off x="11610975" y="22963188"/>
            <a:ext cx="3376613"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r">
              <a:defRPr sz="3400">
                <a:ea typeface="宋体" panose="02010600030101010101" pitchFamily="2" charset="-122"/>
              </a:defRPr>
            </a:lvl1pPr>
          </a:lstStyle>
          <a:p>
            <a:pPr>
              <a:defRPr/>
            </a:pPr>
            <a:fld id="{BB619115-4388-DB41-A018-E82FAC5A2FD0}"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224088" rtl="0" eaLnBrk="0" fontAlgn="base" hangingPunct="0">
        <a:spcBef>
          <a:spcPct val="0"/>
        </a:spcBef>
        <a:spcAft>
          <a:spcPct val="0"/>
        </a:spcAft>
        <a:defRPr sz="10700">
          <a:solidFill>
            <a:schemeClr val="tx2"/>
          </a:solidFill>
          <a:latin typeface="+mj-lt"/>
          <a:ea typeface="+mj-ea"/>
          <a:cs typeface="+mj-cs"/>
        </a:defRPr>
      </a:lvl1pPr>
      <a:lvl2pPr algn="ctr" defTabSz="2224088" rtl="0" eaLnBrk="0" fontAlgn="base" hangingPunct="0">
        <a:spcBef>
          <a:spcPct val="0"/>
        </a:spcBef>
        <a:spcAft>
          <a:spcPct val="0"/>
        </a:spcAft>
        <a:defRPr sz="10700">
          <a:solidFill>
            <a:schemeClr val="tx2"/>
          </a:solidFill>
          <a:latin typeface="Times New Roman" pitchFamily="18" charset="0"/>
        </a:defRPr>
      </a:lvl2pPr>
      <a:lvl3pPr algn="ctr" defTabSz="2224088" rtl="0" eaLnBrk="0" fontAlgn="base" hangingPunct="0">
        <a:spcBef>
          <a:spcPct val="0"/>
        </a:spcBef>
        <a:spcAft>
          <a:spcPct val="0"/>
        </a:spcAft>
        <a:defRPr sz="10700">
          <a:solidFill>
            <a:schemeClr val="tx2"/>
          </a:solidFill>
          <a:latin typeface="Times New Roman" pitchFamily="18" charset="0"/>
        </a:defRPr>
      </a:lvl3pPr>
      <a:lvl4pPr algn="ctr" defTabSz="2224088" rtl="0" eaLnBrk="0" fontAlgn="base" hangingPunct="0">
        <a:spcBef>
          <a:spcPct val="0"/>
        </a:spcBef>
        <a:spcAft>
          <a:spcPct val="0"/>
        </a:spcAft>
        <a:defRPr sz="10700">
          <a:solidFill>
            <a:schemeClr val="tx2"/>
          </a:solidFill>
          <a:latin typeface="Times New Roman" pitchFamily="18" charset="0"/>
        </a:defRPr>
      </a:lvl4pPr>
      <a:lvl5pPr algn="ctr" defTabSz="2224088" rtl="0" eaLnBrk="0" fontAlgn="base" hangingPunct="0">
        <a:spcBef>
          <a:spcPct val="0"/>
        </a:spcBef>
        <a:spcAft>
          <a:spcPct val="0"/>
        </a:spcAft>
        <a:defRPr sz="10700">
          <a:solidFill>
            <a:schemeClr val="tx2"/>
          </a:solidFill>
          <a:latin typeface="Times New Roman" pitchFamily="18" charset="0"/>
        </a:defRPr>
      </a:lvl5pPr>
      <a:lvl6pPr marL="457200" algn="ctr" defTabSz="2224088" rtl="0" eaLnBrk="0" fontAlgn="base" hangingPunct="0">
        <a:spcBef>
          <a:spcPct val="0"/>
        </a:spcBef>
        <a:spcAft>
          <a:spcPct val="0"/>
        </a:spcAft>
        <a:defRPr sz="10700">
          <a:solidFill>
            <a:schemeClr val="tx2"/>
          </a:solidFill>
          <a:latin typeface="Times New Roman" pitchFamily="18" charset="0"/>
        </a:defRPr>
      </a:lvl6pPr>
      <a:lvl7pPr marL="914400" algn="ctr" defTabSz="2224088" rtl="0" eaLnBrk="0" fontAlgn="base" hangingPunct="0">
        <a:spcBef>
          <a:spcPct val="0"/>
        </a:spcBef>
        <a:spcAft>
          <a:spcPct val="0"/>
        </a:spcAft>
        <a:defRPr sz="10700">
          <a:solidFill>
            <a:schemeClr val="tx2"/>
          </a:solidFill>
          <a:latin typeface="Times New Roman" pitchFamily="18" charset="0"/>
        </a:defRPr>
      </a:lvl7pPr>
      <a:lvl8pPr marL="1371600" algn="ctr" defTabSz="2224088" rtl="0" eaLnBrk="0" fontAlgn="base" hangingPunct="0">
        <a:spcBef>
          <a:spcPct val="0"/>
        </a:spcBef>
        <a:spcAft>
          <a:spcPct val="0"/>
        </a:spcAft>
        <a:defRPr sz="10700">
          <a:solidFill>
            <a:schemeClr val="tx2"/>
          </a:solidFill>
          <a:latin typeface="Times New Roman" pitchFamily="18" charset="0"/>
        </a:defRPr>
      </a:lvl8pPr>
      <a:lvl9pPr marL="1828800" algn="ctr" defTabSz="2224088" rtl="0" eaLnBrk="0" fontAlgn="base" hangingPunct="0">
        <a:spcBef>
          <a:spcPct val="0"/>
        </a:spcBef>
        <a:spcAft>
          <a:spcPct val="0"/>
        </a:spcAft>
        <a:defRPr sz="10700">
          <a:solidFill>
            <a:schemeClr val="tx2"/>
          </a:solidFill>
          <a:latin typeface="Times New Roman" pitchFamily="18" charset="0"/>
        </a:defRPr>
      </a:lvl9pPr>
    </p:titleStyle>
    <p:bodyStyle>
      <a:lvl1pPr marL="835025" indent="-835025" algn="l" defTabSz="2224088" rtl="0" eaLnBrk="0" fontAlgn="base" hangingPunct="0">
        <a:spcBef>
          <a:spcPct val="20000"/>
        </a:spcBef>
        <a:spcAft>
          <a:spcPct val="0"/>
        </a:spcAft>
        <a:buChar char="•"/>
        <a:defRPr sz="7800">
          <a:solidFill>
            <a:schemeClr val="tx1"/>
          </a:solidFill>
          <a:latin typeface="+mn-lt"/>
          <a:ea typeface="+mn-ea"/>
          <a:cs typeface="+mn-cs"/>
        </a:defRPr>
      </a:lvl1pPr>
      <a:lvl2pPr marL="1806575" indent="-695325" algn="l" defTabSz="2224088" rtl="0" eaLnBrk="0" fontAlgn="base" hangingPunct="0">
        <a:spcBef>
          <a:spcPct val="20000"/>
        </a:spcBef>
        <a:spcAft>
          <a:spcPct val="0"/>
        </a:spcAft>
        <a:buChar char="–"/>
        <a:defRPr sz="6800">
          <a:solidFill>
            <a:schemeClr val="tx1"/>
          </a:solidFill>
          <a:latin typeface="+mn-lt"/>
        </a:defRPr>
      </a:lvl2pPr>
      <a:lvl3pPr marL="2779713" indent="-555625" algn="l" defTabSz="2224088" rtl="0" eaLnBrk="0" fontAlgn="base" hangingPunct="0">
        <a:spcBef>
          <a:spcPct val="20000"/>
        </a:spcBef>
        <a:spcAft>
          <a:spcPct val="0"/>
        </a:spcAft>
        <a:buChar char="•"/>
        <a:defRPr sz="5900">
          <a:solidFill>
            <a:schemeClr val="tx1"/>
          </a:solidFill>
          <a:latin typeface="+mn-lt"/>
        </a:defRPr>
      </a:lvl3pPr>
      <a:lvl4pPr marL="3892550" indent="-557213" algn="l" defTabSz="2224088" rtl="0" eaLnBrk="0" fontAlgn="base" hangingPunct="0">
        <a:spcBef>
          <a:spcPct val="20000"/>
        </a:spcBef>
        <a:spcAft>
          <a:spcPct val="0"/>
        </a:spcAft>
        <a:buChar char="–"/>
        <a:defRPr sz="4900">
          <a:solidFill>
            <a:schemeClr val="tx1"/>
          </a:solidFill>
          <a:latin typeface="+mn-lt"/>
        </a:defRPr>
      </a:lvl4pPr>
      <a:lvl5pPr marL="5003800" indent="-557213" algn="l" defTabSz="2224088" rtl="0" eaLnBrk="0" fontAlgn="base" hangingPunct="0">
        <a:spcBef>
          <a:spcPct val="20000"/>
        </a:spcBef>
        <a:spcAft>
          <a:spcPct val="0"/>
        </a:spcAft>
        <a:buChar char="»"/>
        <a:defRPr sz="4900">
          <a:solidFill>
            <a:schemeClr val="tx1"/>
          </a:solidFill>
          <a:latin typeface="+mn-lt"/>
        </a:defRPr>
      </a:lvl5pPr>
      <a:lvl6pPr marL="5461000" indent="-557213" algn="l" defTabSz="2224088" rtl="0" eaLnBrk="0" fontAlgn="base" hangingPunct="0">
        <a:spcBef>
          <a:spcPct val="20000"/>
        </a:spcBef>
        <a:spcAft>
          <a:spcPct val="0"/>
        </a:spcAft>
        <a:buChar char="»"/>
        <a:defRPr sz="4900">
          <a:solidFill>
            <a:schemeClr val="tx1"/>
          </a:solidFill>
          <a:latin typeface="+mn-lt"/>
        </a:defRPr>
      </a:lvl6pPr>
      <a:lvl7pPr marL="5918200" indent="-557213" algn="l" defTabSz="2224088" rtl="0" eaLnBrk="0" fontAlgn="base" hangingPunct="0">
        <a:spcBef>
          <a:spcPct val="20000"/>
        </a:spcBef>
        <a:spcAft>
          <a:spcPct val="0"/>
        </a:spcAft>
        <a:buChar char="»"/>
        <a:defRPr sz="4900">
          <a:solidFill>
            <a:schemeClr val="tx1"/>
          </a:solidFill>
          <a:latin typeface="+mn-lt"/>
        </a:defRPr>
      </a:lvl7pPr>
      <a:lvl8pPr marL="6375400" indent="-557213" algn="l" defTabSz="2224088" rtl="0" eaLnBrk="0" fontAlgn="base" hangingPunct="0">
        <a:spcBef>
          <a:spcPct val="20000"/>
        </a:spcBef>
        <a:spcAft>
          <a:spcPct val="0"/>
        </a:spcAft>
        <a:buChar char="»"/>
        <a:defRPr sz="4900">
          <a:solidFill>
            <a:schemeClr val="tx1"/>
          </a:solidFill>
          <a:latin typeface="+mn-lt"/>
        </a:defRPr>
      </a:lvl8pPr>
      <a:lvl9pPr marL="6832600" indent="-557213" algn="l" defTabSz="2224088" rtl="0" eaLnBrk="0" fontAlgn="base" hangingPunct="0">
        <a:spcBef>
          <a:spcPct val="20000"/>
        </a:spcBef>
        <a:spcAft>
          <a:spcPct val="0"/>
        </a:spcAft>
        <a:buChar char="»"/>
        <a:defRPr sz="49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fred.stlouisfed.org/tags/series?t=wages" TargetMode="External"/><Relationship Id="rId7" Type="http://schemas.openxmlformats.org/officeDocument/2006/relationships/image" Target="../media/image4.png"/><Relationship Id="rId2" Type="http://schemas.openxmlformats.org/officeDocument/2006/relationships/hyperlink" Target="https://www.bls.gov/bls/blswage.htm" TargetMode="External"/><Relationship Id="rId1" Type="http://schemas.openxmlformats.org/officeDocument/2006/relationships/slideLayout" Target="../slideLayouts/slideLayout4.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E2"/>
        </a:solidFill>
        <a:effectLst/>
      </p:bgPr>
    </p:bg>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F9D84652-B48C-C3B5-383E-FBD039660772}"/>
              </a:ext>
            </a:extLst>
          </p:cNvPr>
          <p:cNvSpPr>
            <a:spLocks noGrp="1" noChangeArrowheads="1"/>
          </p:cNvSpPr>
          <p:nvPr>
            <p:ph type="title"/>
          </p:nvPr>
        </p:nvSpPr>
        <p:spPr>
          <a:xfrm>
            <a:off x="1698625" y="25400"/>
            <a:ext cx="12739688" cy="1289050"/>
          </a:xfrm>
        </p:spPr>
        <p:txBody>
          <a:bodyPr/>
          <a:lstStyle/>
          <a:p>
            <a:r>
              <a:rPr lang="en-US" sz="3200" dirty="0"/>
              <a:t>Wage Inequality in the U.S. Labor Market</a:t>
            </a:r>
            <a:endParaRPr lang="en-GB" altLang="zh-CN" sz="3000" b="1" dirty="0">
              <a:solidFill>
                <a:srgbClr val="339966"/>
              </a:solidFill>
              <a:ea typeface="宋体" panose="02010600030101010101" pitchFamily="2" charset="-122"/>
            </a:endParaRPr>
          </a:p>
        </p:txBody>
      </p:sp>
      <p:graphicFrame>
        <p:nvGraphicFramePr>
          <p:cNvPr id="11651" name="Group 7555">
            <a:extLst>
              <a:ext uri="{FF2B5EF4-FFF2-40B4-BE49-F238E27FC236}">
                <a16:creationId xmlns:a16="http://schemas.microsoft.com/office/drawing/2014/main" id="{5FC5FF33-B17F-A9E4-8CD8-069E3E9C2265}"/>
              </a:ext>
            </a:extLst>
          </p:cNvPr>
          <p:cNvGraphicFramePr>
            <a:graphicFrameLocks noGrp="1"/>
          </p:cNvGraphicFramePr>
          <p:nvPr>
            <p:ph sz="half" idx="2"/>
            <p:extLst>
              <p:ext uri="{D42A27DB-BD31-4B8C-83A1-F6EECF244321}">
                <p14:modId xmlns:p14="http://schemas.microsoft.com/office/powerpoint/2010/main" val="741032037"/>
              </p:ext>
            </p:extLst>
          </p:nvPr>
        </p:nvGraphicFramePr>
        <p:xfrm>
          <a:off x="919643" y="21677287"/>
          <a:ext cx="6804025" cy="1923419"/>
        </p:xfrm>
        <a:graphic>
          <a:graphicData uri="http://schemas.openxmlformats.org/drawingml/2006/table">
            <a:tbl>
              <a:tblPr/>
              <a:tblGrid>
                <a:gridCol w="1166812">
                  <a:extLst>
                    <a:ext uri="{9D8B030D-6E8A-4147-A177-3AD203B41FA5}">
                      <a16:colId xmlns:a16="http://schemas.microsoft.com/office/drawing/2014/main" val="20000"/>
                    </a:ext>
                  </a:extLst>
                </a:gridCol>
                <a:gridCol w="1851025">
                  <a:extLst>
                    <a:ext uri="{9D8B030D-6E8A-4147-A177-3AD203B41FA5}">
                      <a16:colId xmlns:a16="http://schemas.microsoft.com/office/drawing/2014/main" val="20001"/>
                    </a:ext>
                  </a:extLst>
                </a:gridCol>
                <a:gridCol w="1843088">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655631">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Model</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Feature extraction</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Reprocessing</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a:ln>
                            <a:noFill/>
                          </a:ln>
                          <a:solidFill>
                            <a:srgbClr val="339966"/>
                          </a:solidFill>
                          <a:effectLst/>
                          <a:latin typeface="Times New Roman" pitchFamily="18" charset="0"/>
                          <a:ea typeface="宋体" pitchFamily="2" charset="-122"/>
                        </a:rPr>
                        <a:t>Classification</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accent4"/>
                          </a:solidFill>
                          <a:effectLst/>
                          <a:latin typeface="Times New Roman" pitchFamily="18" charset="0"/>
                          <a:ea typeface="宋体" pitchFamily="2" charset="-122"/>
                        </a:rPr>
                        <a:t>OLS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rowSpan="2">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&gt;200,000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rowSpan="2">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~10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a:ln>
                            <a:noFill/>
                          </a:ln>
                          <a:solidFill>
                            <a:srgbClr val="339966"/>
                          </a:solidFill>
                          <a:effectLst/>
                          <a:latin typeface="Times New Roman" pitchFamily="18" charset="0"/>
                          <a:ea typeface="宋体" pitchFamily="2" charset="-122"/>
                        </a:rPr>
                        <a:t>~200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chemeClr val="accent4"/>
                          </a:solidFill>
                          <a:effectLst/>
                          <a:latin typeface="Times New Roman" pitchFamily="18" charset="0"/>
                          <a:ea typeface="宋体" pitchFamily="2" charset="-122"/>
                        </a:rPr>
                        <a:t>Ridge Regression</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~10,000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chemeClr val="accent4"/>
                          </a:solidFill>
                          <a:effectLst/>
                          <a:latin typeface="Times New Roman" pitchFamily="18" charset="0"/>
                          <a:ea typeface="宋体" pitchFamily="2" charset="-122"/>
                        </a:rPr>
                        <a:t>Lasso</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dirty="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dirty="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2739403"/>
                  </a:ext>
                </a:extLst>
              </a:tr>
            </a:tbl>
          </a:graphicData>
        </a:graphic>
      </p:graphicFrame>
      <p:sp>
        <p:nvSpPr>
          <p:cNvPr id="3097" name="Rectangle 12">
            <a:extLst>
              <a:ext uri="{FF2B5EF4-FFF2-40B4-BE49-F238E27FC236}">
                <a16:creationId xmlns:a16="http://schemas.microsoft.com/office/drawing/2014/main" id="{C2E3F496-7AF4-FCDB-E810-3B3E6ABAA0A5}"/>
              </a:ext>
            </a:extLst>
          </p:cNvPr>
          <p:cNvSpPr>
            <a:spLocks noChangeArrowheads="1"/>
          </p:cNvSpPr>
          <p:nvPr/>
        </p:nvSpPr>
        <p:spPr bwMode="auto">
          <a:xfrm>
            <a:off x="3073399" y="811757"/>
            <a:ext cx="10055225"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2354" tIns="111176" rIns="222354" bIns="111176" anchor="ctr"/>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2400" b="1" dirty="0">
                <a:solidFill>
                  <a:schemeClr val="accent4"/>
                </a:solidFill>
                <a:ea typeface="宋体" panose="02010600030101010101" pitchFamily="2" charset="-122"/>
              </a:rPr>
              <a:t>Emily Eames and Layne DiBuono</a:t>
            </a:r>
          </a:p>
          <a:p>
            <a:pPr algn="ctr">
              <a:spcBef>
                <a:spcPct val="0"/>
              </a:spcBef>
              <a:buFontTx/>
              <a:buNone/>
            </a:pPr>
            <a:r>
              <a:rPr lang="en-GB" altLang="zh-CN" sz="2000" dirty="0">
                <a:solidFill>
                  <a:schemeClr val="accent4"/>
                </a:solidFill>
                <a:ea typeface="宋体" panose="02010600030101010101" pitchFamily="2" charset="-122"/>
              </a:rPr>
              <a:t>American University</a:t>
            </a:r>
            <a:endParaRPr lang="en-US" altLang="zh-CN" sz="2000" dirty="0">
              <a:solidFill>
                <a:schemeClr val="accent4"/>
              </a:solidFill>
              <a:ea typeface="宋体" panose="02010600030101010101" pitchFamily="2" charset="-122"/>
            </a:endParaRPr>
          </a:p>
        </p:txBody>
      </p:sp>
      <p:sp>
        <p:nvSpPr>
          <p:cNvPr id="3099" name="Text Box 378">
            <a:extLst>
              <a:ext uri="{FF2B5EF4-FFF2-40B4-BE49-F238E27FC236}">
                <a16:creationId xmlns:a16="http://schemas.microsoft.com/office/drawing/2014/main" id="{82D5EF50-6D81-96F6-7994-3F750525DD7D}"/>
              </a:ext>
            </a:extLst>
          </p:cNvPr>
          <p:cNvSpPr txBox="1">
            <a:spLocks noChangeArrowheads="1"/>
          </p:cNvSpPr>
          <p:nvPr/>
        </p:nvSpPr>
        <p:spPr bwMode="auto">
          <a:xfrm>
            <a:off x="6516688" y="24310975"/>
            <a:ext cx="3744564" cy="292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6073" tIns="23036" rIns="46073" bIns="23036">
            <a:spAutoFit/>
          </a:bodyPr>
          <a:lstStyle>
            <a:lvl1pPr defTabSz="460375">
              <a:defRPr sz="7500">
                <a:solidFill>
                  <a:schemeClr val="tx1"/>
                </a:solidFill>
                <a:latin typeface="Times New Roman" panose="02020603050405020304" pitchFamily="18" charset="0"/>
              </a:defRPr>
            </a:lvl1pPr>
            <a:lvl2pPr marL="742950" indent="-285750" defTabSz="460375">
              <a:defRPr sz="7500">
                <a:solidFill>
                  <a:schemeClr val="tx1"/>
                </a:solidFill>
                <a:latin typeface="Times New Roman" panose="02020603050405020304" pitchFamily="18" charset="0"/>
              </a:defRPr>
            </a:lvl2pPr>
            <a:lvl3pPr marL="1143000" indent="-228600" defTabSz="460375">
              <a:defRPr sz="7500">
                <a:solidFill>
                  <a:schemeClr val="tx1"/>
                </a:solidFill>
                <a:latin typeface="Times New Roman" panose="02020603050405020304" pitchFamily="18" charset="0"/>
              </a:defRPr>
            </a:lvl3pPr>
            <a:lvl4pPr marL="1600200" indent="-228600" defTabSz="460375">
              <a:defRPr sz="7500">
                <a:solidFill>
                  <a:schemeClr val="tx1"/>
                </a:solidFill>
                <a:latin typeface="Times New Roman" panose="02020603050405020304" pitchFamily="18" charset="0"/>
              </a:defRPr>
            </a:lvl4pPr>
            <a:lvl5pPr marL="2057400" indent="-228600" defTabSz="460375">
              <a:defRPr sz="75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7500">
                <a:solidFill>
                  <a:schemeClr val="tx1"/>
                </a:solidFill>
                <a:latin typeface="Times New Roman" panose="02020603050405020304" pitchFamily="18" charset="0"/>
              </a:defRPr>
            </a:lvl9pPr>
          </a:lstStyle>
          <a:p>
            <a:pPr algn="just">
              <a:spcBef>
                <a:spcPct val="50000"/>
              </a:spcBef>
            </a:pPr>
            <a:r>
              <a:rPr lang="en-GB" altLang="zh-CN" sz="1600" b="1" dirty="0">
                <a:solidFill>
                  <a:schemeClr val="accent4"/>
                </a:solidFill>
                <a:ea typeface="宋体" panose="02010600030101010101" pitchFamily="2" charset="-122"/>
                <a:cs typeface="Arial" panose="020B0604020202020204" pitchFamily="34" charset="0"/>
              </a:rPr>
              <a:t>Authors emails: ld9100a@american.edu</a:t>
            </a:r>
            <a:endParaRPr lang="en-GB" altLang="zh-CN" sz="1600" dirty="0">
              <a:solidFill>
                <a:schemeClr val="accent4"/>
              </a:solidFill>
              <a:ea typeface="宋体" panose="02010600030101010101" pitchFamily="2" charset="-122"/>
              <a:cs typeface="Arial" panose="020B0604020202020204" pitchFamily="34" charset="0"/>
            </a:endParaRPr>
          </a:p>
        </p:txBody>
      </p:sp>
      <p:sp>
        <p:nvSpPr>
          <p:cNvPr id="3100" name="Text Box 485">
            <a:extLst>
              <a:ext uri="{FF2B5EF4-FFF2-40B4-BE49-F238E27FC236}">
                <a16:creationId xmlns:a16="http://schemas.microsoft.com/office/drawing/2014/main" id="{4463EFF6-34A6-E235-633B-3D45BDACED7B}"/>
              </a:ext>
            </a:extLst>
          </p:cNvPr>
          <p:cNvSpPr txBox="1">
            <a:spLocks noChangeArrowheads="1"/>
          </p:cNvSpPr>
          <p:nvPr/>
        </p:nvSpPr>
        <p:spPr bwMode="auto">
          <a:xfrm>
            <a:off x="8312150" y="2232025"/>
            <a:ext cx="7416800" cy="1581519"/>
          </a:xfrm>
          <a:prstGeom prst="rect">
            <a:avLst/>
          </a:prstGeom>
          <a:noFill/>
          <a:ln>
            <a:noFill/>
          </a:ln>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00"/>
              </a:spcBef>
              <a:spcAft>
                <a:spcPts val="900"/>
              </a:spcAft>
              <a:defRPr/>
            </a:pPr>
            <a:r>
              <a:rPr lang="en-GB" altLang="zh-CN" sz="2200" b="1" dirty="0">
                <a:solidFill>
                  <a:schemeClr val="accent4"/>
                </a:solidFill>
                <a:ea typeface="宋体" panose="02010600030101010101" pitchFamily="2" charset="-122"/>
              </a:rPr>
              <a:t>Classification</a:t>
            </a:r>
            <a:endParaRPr lang="en-GB" altLang="zh-CN" sz="1700" b="1" dirty="0">
              <a:solidFill>
                <a:schemeClr val="accent4"/>
              </a:solidFill>
              <a:ea typeface="宋体" panose="02010600030101010101" pitchFamily="2" charset="-122"/>
            </a:endParaRPr>
          </a:p>
          <a:p>
            <a:r>
              <a:rPr lang="en-US" sz="1700" dirty="0"/>
              <a:t>Can we predict whether an individual earns above or below the median national wage based on their demographic and employment characteristics?</a:t>
            </a:r>
          </a:p>
          <a:p>
            <a:br>
              <a:rPr lang="en-US" sz="1800" dirty="0"/>
            </a:br>
            <a:endParaRPr lang="en-US" altLang="zh-CN" sz="1700" dirty="0">
              <a:solidFill>
                <a:schemeClr val="accent4"/>
              </a:solidFill>
              <a:ea typeface="宋体" panose="02010600030101010101" pitchFamily="2" charset="-122"/>
            </a:endParaRPr>
          </a:p>
        </p:txBody>
      </p:sp>
      <p:sp>
        <p:nvSpPr>
          <p:cNvPr id="3101" name="Rectangle 525">
            <a:extLst>
              <a:ext uri="{FF2B5EF4-FFF2-40B4-BE49-F238E27FC236}">
                <a16:creationId xmlns:a16="http://schemas.microsoft.com/office/drawing/2014/main" id="{15DBE10A-8599-E526-6A5E-57B648E5C4B0}"/>
              </a:ext>
            </a:extLst>
          </p:cNvPr>
          <p:cNvSpPr>
            <a:spLocks noChangeArrowheads="1"/>
          </p:cNvSpPr>
          <p:nvPr/>
        </p:nvSpPr>
        <p:spPr bwMode="auto">
          <a:xfrm>
            <a:off x="0" y="20448901"/>
            <a:ext cx="45085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1600" dirty="0">
                <a:solidFill>
                  <a:schemeClr val="accent4"/>
                </a:solidFill>
                <a:ea typeface="宋体" panose="02010600030101010101" pitchFamily="2" charset="-122"/>
              </a:rPr>
              <a:t>Fig. 1.  Comparison plot</a:t>
            </a:r>
            <a:endParaRPr lang="en-US" altLang="zh-CN" sz="1600" dirty="0">
              <a:solidFill>
                <a:schemeClr val="accent4"/>
              </a:solidFill>
              <a:ea typeface="宋体" panose="02010600030101010101" pitchFamily="2" charset="-122"/>
            </a:endParaRPr>
          </a:p>
        </p:txBody>
      </p:sp>
      <p:sp>
        <p:nvSpPr>
          <p:cNvPr id="3102" name="Text Box 7273">
            <a:extLst>
              <a:ext uri="{FF2B5EF4-FFF2-40B4-BE49-F238E27FC236}">
                <a16:creationId xmlns:a16="http://schemas.microsoft.com/office/drawing/2014/main" id="{09CB1591-BF30-B936-5B8C-2A8BD468BAAD}"/>
              </a:ext>
            </a:extLst>
          </p:cNvPr>
          <p:cNvSpPr txBox="1">
            <a:spLocks noChangeArrowheads="1"/>
          </p:cNvSpPr>
          <p:nvPr/>
        </p:nvSpPr>
        <p:spPr bwMode="auto">
          <a:xfrm>
            <a:off x="452438" y="5045187"/>
            <a:ext cx="7469188" cy="1071123"/>
          </a:xfrm>
          <a:prstGeom prst="rect">
            <a:avLst/>
          </a:prstGeom>
          <a:noFill/>
          <a:ln>
            <a:noFill/>
          </a:ln>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defRPr/>
            </a:pPr>
            <a:r>
              <a:rPr lang="en-GB" altLang="zh-CN" sz="2200" b="1" dirty="0">
                <a:solidFill>
                  <a:schemeClr val="accent4"/>
                </a:solidFill>
                <a:ea typeface="宋体" panose="02010600030101010101" pitchFamily="2" charset="-122"/>
              </a:rPr>
              <a:t>Introduction </a:t>
            </a:r>
          </a:p>
          <a:p>
            <a:pPr>
              <a:spcBef>
                <a:spcPts val="425"/>
              </a:spcBef>
              <a:spcAft>
                <a:spcPts val="850"/>
              </a:spcAft>
              <a:defRPr/>
            </a:pPr>
            <a:r>
              <a:rPr lang="en-US" altLang="zh-CN" sz="1700" dirty="0">
                <a:solidFill>
                  <a:schemeClr val="accent4"/>
                </a:solidFill>
                <a:ea typeface="宋体" panose="02010600030101010101" pitchFamily="2" charset="-122"/>
              </a:rPr>
              <a:t>Introduction to our project</a:t>
            </a:r>
            <a:endParaRPr lang="en-GB" altLang="zh-CN" sz="1700" dirty="0">
              <a:solidFill>
                <a:schemeClr val="accent4"/>
              </a:solidFill>
              <a:ea typeface="宋体" panose="02010600030101010101" pitchFamily="2" charset="-122"/>
            </a:endParaRPr>
          </a:p>
          <a:p>
            <a:pPr>
              <a:defRPr/>
            </a:pPr>
            <a:endParaRPr lang="en-GB" altLang="zh-CN" sz="800" dirty="0">
              <a:solidFill>
                <a:schemeClr val="accent4"/>
              </a:solidFill>
              <a:ea typeface="宋体" panose="02010600030101010101" pitchFamily="2" charset="-122"/>
            </a:endParaRPr>
          </a:p>
        </p:txBody>
      </p:sp>
      <p:sp>
        <p:nvSpPr>
          <p:cNvPr id="3103" name="Text Box 7305">
            <a:extLst>
              <a:ext uri="{FF2B5EF4-FFF2-40B4-BE49-F238E27FC236}">
                <a16:creationId xmlns:a16="http://schemas.microsoft.com/office/drawing/2014/main" id="{393C85BA-2111-AA04-C0E6-7EE190AAE9BC}"/>
              </a:ext>
            </a:extLst>
          </p:cNvPr>
          <p:cNvSpPr txBox="1">
            <a:spLocks noChangeArrowheads="1"/>
          </p:cNvSpPr>
          <p:nvPr/>
        </p:nvSpPr>
        <p:spPr bwMode="auto">
          <a:xfrm>
            <a:off x="2844428" y="21263958"/>
            <a:ext cx="3949700" cy="311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r>
              <a:rPr lang="en-US" altLang="zh-CN" sz="1600" dirty="0">
                <a:solidFill>
                  <a:srgbClr val="339966"/>
                </a:solidFill>
                <a:ea typeface="宋体" panose="02010600030101010101" pitchFamily="2" charset="-122"/>
              </a:rPr>
              <a:t>Table I. Model results*</a:t>
            </a:r>
            <a:endParaRPr lang="en-GB" altLang="zh-CN" sz="1600" dirty="0">
              <a:solidFill>
                <a:srgbClr val="339966"/>
              </a:solidFill>
              <a:ea typeface="宋体" panose="02010600030101010101" pitchFamily="2" charset="-122"/>
            </a:endParaRPr>
          </a:p>
        </p:txBody>
      </p:sp>
      <p:sp>
        <p:nvSpPr>
          <p:cNvPr id="3104" name="Text Box 7483">
            <a:extLst>
              <a:ext uri="{FF2B5EF4-FFF2-40B4-BE49-F238E27FC236}">
                <a16:creationId xmlns:a16="http://schemas.microsoft.com/office/drawing/2014/main" id="{8424BB74-BD05-FEAA-A821-BE3C911E4F22}"/>
              </a:ext>
            </a:extLst>
          </p:cNvPr>
          <p:cNvSpPr txBox="1">
            <a:spLocks noChangeArrowheads="1"/>
          </p:cNvSpPr>
          <p:nvPr/>
        </p:nvSpPr>
        <p:spPr bwMode="auto">
          <a:xfrm>
            <a:off x="500063" y="2238375"/>
            <a:ext cx="7469187" cy="270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chemeClr val="accent4"/>
                </a:solidFill>
                <a:ea typeface="宋体" panose="02010600030101010101" pitchFamily="2" charset="-122"/>
              </a:rPr>
              <a:t>Topic  </a:t>
            </a:r>
            <a:endParaRPr lang="en-GB" altLang="zh-CN" sz="1700" b="1" dirty="0">
              <a:solidFill>
                <a:schemeClr val="accent4"/>
              </a:solidFill>
              <a:ea typeface="宋体" panose="02010600030101010101" pitchFamily="2" charset="-122"/>
            </a:endParaRPr>
          </a:p>
          <a:p>
            <a:r>
              <a:rPr lang="en-US" sz="1700" dirty="0"/>
              <a:t>This project investigates the determinants of wage inequality in the U.S. labor market using advanced regression (Ridge or Lasso) and classification methods (Random Forest, SVMs) to compare predictive accuracy along with interpretability.</a:t>
            </a:r>
            <a:endParaRPr lang="en-US" sz="1700" b="0" dirty="0">
              <a:effectLst/>
            </a:endParaRPr>
          </a:p>
          <a:p>
            <a:endParaRPr lang="en-US" sz="1800" dirty="0"/>
          </a:p>
          <a:p>
            <a:r>
              <a:rPr lang="en-US" sz="2200" b="1" dirty="0"/>
              <a:t>Data</a:t>
            </a:r>
            <a:br>
              <a:rPr lang="en-US" sz="1800" dirty="0"/>
            </a:br>
            <a:r>
              <a:rPr lang="en-US" sz="1700" dirty="0">
                <a:solidFill>
                  <a:schemeClr val="accent4"/>
                </a:solidFill>
              </a:rPr>
              <a:t>Our data is from the </a:t>
            </a:r>
            <a:r>
              <a:rPr lang="en-US" sz="1700" u="sng" dirty="0">
                <a:solidFill>
                  <a:schemeClr val="accent4"/>
                </a:solidFill>
                <a:hlinkClick r:id="rId2">
                  <a:extLst>
                    <a:ext uri="{A12FA001-AC4F-418D-AE19-62706E023703}">
                      <ahyp:hlinkClr xmlns:ahyp="http://schemas.microsoft.com/office/drawing/2018/hyperlinkcolor" val="tx"/>
                    </a:ext>
                  </a:extLst>
                </a:hlinkClick>
              </a:rPr>
              <a:t>BLS</a:t>
            </a:r>
            <a:r>
              <a:rPr lang="en-US" sz="1700" dirty="0">
                <a:solidFill>
                  <a:schemeClr val="accent4"/>
                </a:solidFill>
              </a:rPr>
              <a:t> and the </a:t>
            </a:r>
            <a:r>
              <a:rPr lang="en-US" sz="1700" u="sng" dirty="0">
                <a:solidFill>
                  <a:schemeClr val="accent4"/>
                </a:solidFill>
                <a:hlinkClick r:id="rId3">
                  <a:extLst>
                    <a:ext uri="{A12FA001-AC4F-418D-AE19-62706E023703}">
                      <ahyp:hlinkClr xmlns:ahyp="http://schemas.microsoft.com/office/drawing/2018/hyperlinkcolor" val="tx"/>
                    </a:ext>
                  </a:extLst>
                </a:hlinkClick>
              </a:rPr>
              <a:t>St. Louis Federal Reserve</a:t>
            </a:r>
            <a:r>
              <a:rPr lang="en-US" sz="1700" dirty="0">
                <a:solidFill>
                  <a:schemeClr val="accent4"/>
                </a:solidFill>
              </a:rPr>
              <a:t>. These datasets provide various wage and demographic related data with options for historical data and recent data (2024)</a:t>
            </a:r>
            <a:endParaRPr lang="en-GB" altLang="zh-CN" sz="1700" dirty="0">
              <a:solidFill>
                <a:schemeClr val="accent4"/>
              </a:solidFill>
              <a:ea typeface="宋体" panose="02010600030101010101" pitchFamily="2" charset="-122"/>
            </a:endParaRPr>
          </a:p>
        </p:txBody>
      </p:sp>
      <p:sp>
        <p:nvSpPr>
          <p:cNvPr id="3105" name="Text Box 7485">
            <a:extLst>
              <a:ext uri="{FF2B5EF4-FFF2-40B4-BE49-F238E27FC236}">
                <a16:creationId xmlns:a16="http://schemas.microsoft.com/office/drawing/2014/main" id="{59C25161-6C8E-4EF3-6AE5-AB608DB82992}"/>
              </a:ext>
            </a:extLst>
          </p:cNvPr>
          <p:cNvSpPr txBox="1">
            <a:spLocks noChangeArrowheads="1"/>
          </p:cNvSpPr>
          <p:nvPr/>
        </p:nvSpPr>
        <p:spPr bwMode="auto">
          <a:xfrm>
            <a:off x="501650" y="13249275"/>
            <a:ext cx="7451725" cy="404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chemeClr val="accent4"/>
                </a:solidFill>
                <a:ea typeface="宋体" panose="02010600030101010101" pitchFamily="2" charset="-122"/>
              </a:rPr>
              <a:t>Regression</a:t>
            </a:r>
            <a:endParaRPr lang="en-GB" altLang="zh-CN" sz="1700" b="1" dirty="0">
              <a:solidFill>
                <a:schemeClr val="accent4"/>
              </a:solidFill>
              <a:ea typeface="宋体" panose="02010600030101010101" pitchFamily="2" charset="-122"/>
            </a:endParaRPr>
          </a:p>
        </p:txBody>
      </p:sp>
      <p:sp>
        <p:nvSpPr>
          <p:cNvPr id="3107" name="Text Box 7487">
            <a:extLst>
              <a:ext uri="{FF2B5EF4-FFF2-40B4-BE49-F238E27FC236}">
                <a16:creationId xmlns:a16="http://schemas.microsoft.com/office/drawing/2014/main" id="{D4F887AC-FD9C-D29B-9280-1D4CF4496E00}"/>
              </a:ext>
            </a:extLst>
          </p:cNvPr>
          <p:cNvSpPr txBox="1">
            <a:spLocks noChangeArrowheads="1"/>
          </p:cNvSpPr>
          <p:nvPr/>
        </p:nvSpPr>
        <p:spPr bwMode="auto">
          <a:xfrm>
            <a:off x="514910" y="14165222"/>
            <a:ext cx="7459662" cy="137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r>
              <a:rPr lang="en-US" sz="1700" dirty="0"/>
              <a:t>What are the main factors (education, experience, occupation, gender, region) that explain variation in individual wages, and how do regularization methods like Ridge and LASSO improve model performance and interpretability?</a:t>
            </a:r>
            <a:endParaRPr lang="en-US" sz="1700" b="0" dirty="0">
              <a:effectLst/>
            </a:endParaRPr>
          </a:p>
          <a:p>
            <a:br>
              <a:rPr lang="en-US" sz="1700" dirty="0"/>
            </a:br>
            <a:endParaRPr lang="en-GB" altLang="zh-CN" sz="1700" dirty="0">
              <a:solidFill>
                <a:srgbClr val="339966"/>
              </a:solidFill>
              <a:ea typeface="宋体" panose="02010600030101010101" pitchFamily="2" charset="-122"/>
            </a:endParaRPr>
          </a:p>
        </p:txBody>
      </p:sp>
      <p:sp>
        <p:nvSpPr>
          <p:cNvPr id="3108" name="Text Box 7489">
            <a:extLst>
              <a:ext uri="{FF2B5EF4-FFF2-40B4-BE49-F238E27FC236}">
                <a16:creationId xmlns:a16="http://schemas.microsoft.com/office/drawing/2014/main" id="{32F55D05-0D05-DBF7-D9A2-B0BED20D6EAB}"/>
              </a:ext>
            </a:extLst>
          </p:cNvPr>
          <p:cNvSpPr txBox="1">
            <a:spLocks noChangeArrowheads="1"/>
          </p:cNvSpPr>
          <p:nvPr/>
        </p:nvSpPr>
        <p:spPr bwMode="auto">
          <a:xfrm>
            <a:off x="8345530" y="19125427"/>
            <a:ext cx="7416800" cy="309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chemeClr val="accent4"/>
                </a:solidFill>
                <a:ea typeface="宋体" panose="02010600030101010101" pitchFamily="2" charset="-122"/>
              </a:rPr>
              <a:t>Ethical Concerns</a:t>
            </a:r>
          </a:p>
          <a:p>
            <a:pPr>
              <a:spcBef>
                <a:spcPts val="425"/>
              </a:spcBef>
              <a:spcAft>
                <a:spcPts val="850"/>
              </a:spcAft>
            </a:pPr>
            <a:r>
              <a:rPr lang="en-GB" altLang="zh-CN" sz="1700" b="1" dirty="0">
                <a:solidFill>
                  <a:schemeClr val="accent4"/>
                </a:solidFill>
                <a:ea typeface="宋体" panose="02010600030101010101" pitchFamily="2" charset="-122"/>
              </a:rPr>
              <a:t>Bias in data </a:t>
            </a:r>
            <a:r>
              <a:rPr lang="en-GB" altLang="zh-CN" sz="1700" dirty="0">
                <a:solidFill>
                  <a:schemeClr val="accent4"/>
                </a:solidFill>
                <a:ea typeface="宋体" panose="02010600030101010101" pitchFamily="2" charset="-122"/>
              </a:rPr>
              <a:t>-</a:t>
            </a:r>
            <a:r>
              <a:rPr lang="en-GB" altLang="zh-CN" sz="1700" b="1" dirty="0">
                <a:solidFill>
                  <a:schemeClr val="accent4"/>
                </a:solidFill>
                <a:ea typeface="宋体" panose="02010600030101010101" pitchFamily="2" charset="-122"/>
              </a:rPr>
              <a:t> </a:t>
            </a:r>
            <a:r>
              <a:rPr lang="en-GB" altLang="zh-CN" sz="1700" dirty="0">
                <a:solidFill>
                  <a:schemeClr val="accent4"/>
                </a:solidFill>
                <a:ea typeface="宋体" panose="02010600030101010101" pitchFamily="2" charset="-122"/>
              </a:rPr>
              <a:t>gender/race wage gaps reflecting systemic inequality</a:t>
            </a:r>
          </a:p>
          <a:p>
            <a:pPr>
              <a:spcBef>
                <a:spcPts val="425"/>
              </a:spcBef>
              <a:spcAft>
                <a:spcPts val="850"/>
              </a:spcAft>
            </a:pPr>
            <a:r>
              <a:rPr lang="en-GB" altLang="zh-CN" sz="1700" b="1" dirty="0">
                <a:solidFill>
                  <a:schemeClr val="accent4"/>
                </a:solidFill>
                <a:ea typeface="宋体" panose="02010600030101010101" pitchFamily="2" charset="-122"/>
              </a:rPr>
              <a:t>Interpretation risk </a:t>
            </a:r>
            <a:r>
              <a:rPr lang="en-GB" altLang="zh-CN" sz="1700" dirty="0">
                <a:solidFill>
                  <a:schemeClr val="accent4"/>
                </a:solidFill>
                <a:ea typeface="宋体" panose="02010600030101010101" pitchFamily="2" charset="-122"/>
              </a:rPr>
              <a:t>– Avoid implying causation from correlation</a:t>
            </a:r>
          </a:p>
          <a:p>
            <a:pPr>
              <a:spcBef>
                <a:spcPts val="425"/>
              </a:spcBef>
              <a:spcAft>
                <a:spcPts val="850"/>
              </a:spcAft>
            </a:pPr>
            <a:r>
              <a:rPr lang="en-GB" altLang="zh-CN" sz="1700" b="1" dirty="0">
                <a:solidFill>
                  <a:schemeClr val="accent4"/>
                </a:solidFill>
                <a:ea typeface="宋体" panose="02010600030101010101" pitchFamily="2" charset="-122"/>
              </a:rPr>
              <a:t>Responsible reporting </a:t>
            </a:r>
            <a:r>
              <a:rPr lang="en-GB" altLang="zh-CN" sz="1700" dirty="0">
                <a:solidFill>
                  <a:schemeClr val="accent4"/>
                </a:solidFill>
                <a:ea typeface="宋体" panose="02010600030101010101" pitchFamily="2" charset="-122"/>
              </a:rPr>
              <a:t>– Frame results within socioeconomic context</a:t>
            </a:r>
            <a:endParaRPr lang="en-GB" altLang="zh-CN" sz="1700" b="1" dirty="0">
              <a:solidFill>
                <a:schemeClr val="accent4"/>
              </a:solidFill>
              <a:ea typeface="宋体" panose="02010600030101010101" pitchFamily="2" charset="-122"/>
            </a:endParaRPr>
          </a:p>
          <a:p>
            <a:pPr>
              <a:spcBef>
                <a:spcPts val="425"/>
              </a:spcBef>
              <a:spcAft>
                <a:spcPts val="850"/>
              </a:spcAft>
            </a:pPr>
            <a:r>
              <a:rPr lang="en-GB" altLang="zh-CN" sz="2200" b="1" dirty="0">
                <a:solidFill>
                  <a:schemeClr val="accent4"/>
                </a:solidFill>
                <a:ea typeface="宋体" panose="02010600030101010101" pitchFamily="2" charset="-122"/>
              </a:rPr>
              <a:t>Conclusion   </a:t>
            </a:r>
            <a:endParaRPr lang="en-GB" altLang="zh-CN" sz="1700" b="1" dirty="0">
              <a:solidFill>
                <a:schemeClr val="accent4"/>
              </a:solidFill>
              <a:ea typeface="宋体" panose="02010600030101010101" pitchFamily="2" charset="-122"/>
            </a:endParaRPr>
          </a:p>
          <a:p>
            <a:r>
              <a:rPr lang="en-US" altLang="zh-CN" sz="1700" dirty="0">
                <a:solidFill>
                  <a:schemeClr val="accent4"/>
                </a:solidFill>
                <a:ea typeface="宋体" panose="02010600030101010101" pitchFamily="2" charset="-122"/>
              </a:rPr>
              <a:t>1. Technical Tours </a:t>
            </a:r>
          </a:p>
          <a:p>
            <a:r>
              <a:rPr lang="en-US" altLang="zh-CN" sz="1700" dirty="0">
                <a:solidFill>
                  <a:schemeClr val="accent4"/>
                </a:solidFill>
                <a:ea typeface="宋体" panose="02010600030101010101" pitchFamily="2" charset="-122"/>
              </a:rPr>
              <a:t>2. Post Conference Tours </a:t>
            </a:r>
          </a:p>
          <a:p>
            <a:r>
              <a:rPr lang="en-US" altLang="zh-CN" sz="1700" dirty="0">
                <a:solidFill>
                  <a:schemeClr val="accent4"/>
                </a:solidFill>
                <a:ea typeface="宋体" panose="02010600030101010101" pitchFamily="2" charset="-122"/>
              </a:rPr>
              <a:t>(Detailed information will be updated later)</a:t>
            </a:r>
          </a:p>
        </p:txBody>
      </p:sp>
      <p:sp>
        <p:nvSpPr>
          <p:cNvPr id="3109" name="Text Box 7512">
            <a:extLst>
              <a:ext uri="{FF2B5EF4-FFF2-40B4-BE49-F238E27FC236}">
                <a16:creationId xmlns:a16="http://schemas.microsoft.com/office/drawing/2014/main" id="{BAC33471-E43E-A84E-C4E9-FDD19D196945}"/>
              </a:ext>
            </a:extLst>
          </p:cNvPr>
          <p:cNvSpPr txBox="1">
            <a:spLocks noChangeArrowheads="1"/>
          </p:cNvSpPr>
          <p:nvPr/>
        </p:nvSpPr>
        <p:spPr bwMode="auto">
          <a:xfrm>
            <a:off x="8312150" y="13249275"/>
            <a:ext cx="7416800" cy="104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chemeClr val="accent4"/>
                </a:solidFill>
                <a:ea typeface="宋体" panose="02010600030101010101" pitchFamily="2" charset="-122"/>
              </a:rPr>
              <a:t>Results and Analyses</a:t>
            </a:r>
          </a:p>
          <a:p>
            <a:endParaRPr lang="en-US" altLang="zh-CN" sz="1700" dirty="0">
              <a:solidFill>
                <a:schemeClr val="accent4"/>
              </a:solidFill>
              <a:ea typeface="宋体" panose="02010600030101010101" pitchFamily="2" charset="-122"/>
            </a:endParaRPr>
          </a:p>
          <a:p>
            <a:r>
              <a:rPr lang="en-US" altLang="zh-CN" sz="1700" dirty="0">
                <a:solidFill>
                  <a:schemeClr val="accent4"/>
                </a:solidFill>
                <a:ea typeface="宋体" panose="02010600030101010101" pitchFamily="2" charset="-122"/>
              </a:rPr>
              <a:t>There are many hotels surrounding the Tianjin University </a:t>
            </a:r>
          </a:p>
        </p:txBody>
      </p:sp>
      <p:sp>
        <p:nvSpPr>
          <p:cNvPr id="3111" name="Text Box 7523">
            <a:extLst>
              <a:ext uri="{FF2B5EF4-FFF2-40B4-BE49-F238E27FC236}">
                <a16:creationId xmlns:a16="http://schemas.microsoft.com/office/drawing/2014/main" id="{2FD6BA24-863E-9D9F-F7CB-D9DD13AB3A36}"/>
              </a:ext>
            </a:extLst>
          </p:cNvPr>
          <p:cNvSpPr txBox="1">
            <a:spLocks noChangeArrowheads="1"/>
          </p:cNvSpPr>
          <p:nvPr/>
        </p:nvSpPr>
        <p:spPr bwMode="auto">
          <a:xfrm>
            <a:off x="8243930" y="22448041"/>
            <a:ext cx="7518400" cy="1835435"/>
          </a:xfrm>
          <a:prstGeom prst="rect">
            <a:avLst/>
          </a:prstGeom>
          <a:noFill/>
          <a:ln>
            <a:noFill/>
          </a:ln>
        </p:spPr>
        <p:txBody>
          <a:bodyPr wrap="square"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r>
              <a:rPr lang="en-GB" altLang="zh-CN" sz="1700" dirty="0">
                <a:solidFill>
                  <a:schemeClr val="accent4"/>
                </a:solidFill>
                <a:ea typeface="宋体" panose="02010600030101010101" pitchFamily="2" charset="-122"/>
              </a:rPr>
              <a:t>References:</a:t>
            </a:r>
          </a:p>
          <a:p>
            <a:r>
              <a:rPr lang="en-US" sz="1400" dirty="0"/>
              <a:t>[1] Gould, E., Mishel, L., &amp; Bivens, J. (2015, January 6). </a:t>
            </a:r>
            <a:r>
              <a:rPr lang="en-US" sz="1400" i="1" dirty="0"/>
              <a:t>Wage stagnation in nine charts</a:t>
            </a:r>
            <a:r>
              <a:rPr lang="en-US" sz="1400" dirty="0"/>
              <a:t>. Economic Policy Institute . https://</a:t>
            </a:r>
            <a:r>
              <a:rPr lang="en-US" sz="1400" dirty="0" err="1"/>
              <a:t>www.epi.org</a:t>
            </a:r>
            <a:r>
              <a:rPr lang="en-US" sz="1400" dirty="0"/>
              <a:t>/publication/charting-wage-stagnation/ </a:t>
            </a:r>
          </a:p>
          <a:p>
            <a:r>
              <a:rPr lang="en-GB" altLang="zh-CN" sz="1400" dirty="0">
                <a:solidFill>
                  <a:schemeClr val="accent4"/>
                </a:solidFill>
                <a:ea typeface="宋体" panose="02010600030101010101" pitchFamily="2" charset="-122"/>
              </a:rPr>
              <a:t>[2] </a:t>
            </a:r>
            <a:r>
              <a:rPr lang="en-US" sz="1400" dirty="0"/>
              <a:t>Sherman, A., </a:t>
            </a:r>
            <a:r>
              <a:rPr lang="en-US" sz="1400" dirty="0" err="1"/>
              <a:t>Trisi</a:t>
            </a:r>
            <a:r>
              <a:rPr lang="en-US" sz="1400" dirty="0"/>
              <a:t>, D., &amp; Cureton, J. (2024, December 11). </a:t>
            </a:r>
            <a:r>
              <a:rPr lang="en-US" sz="1400" i="1" dirty="0"/>
              <a:t>A guide to statistics on historical trends in income inequality</a:t>
            </a:r>
            <a:r>
              <a:rPr lang="en-US" sz="1400" dirty="0"/>
              <a:t>. Center on Budget &amp; Policy Priorities. https://</a:t>
            </a:r>
            <a:r>
              <a:rPr lang="en-US" sz="1400" dirty="0" err="1"/>
              <a:t>www.cbpp.org</a:t>
            </a:r>
            <a:r>
              <a:rPr lang="en-US" sz="1400" dirty="0"/>
              <a:t>/research/poverty-and-inequality/a-guide-to-statistics-on-historical-trends-in-income-inequality </a:t>
            </a:r>
          </a:p>
          <a:p>
            <a:br>
              <a:rPr lang="en-US" sz="1400" dirty="0"/>
            </a:br>
            <a:endParaRPr lang="en-GB" altLang="zh-CN" sz="1400" dirty="0">
              <a:solidFill>
                <a:schemeClr val="accent4"/>
              </a:solidFill>
              <a:ea typeface="宋体" panose="02010600030101010101" pitchFamily="2" charset="-122"/>
            </a:endParaRPr>
          </a:p>
        </p:txBody>
      </p:sp>
      <p:sp>
        <p:nvSpPr>
          <p:cNvPr id="3112" name="Rectangle 7548">
            <a:extLst>
              <a:ext uri="{FF2B5EF4-FFF2-40B4-BE49-F238E27FC236}">
                <a16:creationId xmlns:a16="http://schemas.microsoft.com/office/drawing/2014/main" id="{B703E8DB-D2E9-363C-8F16-4B5423571184}"/>
              </a:ext>
            </a:extLst>
          </p:cNvPr>
          <p:cNvSpPr>
            <a:spLocks noChangeArrowheads="1"/>
          </p:cNvSpPr>
          <p:nvPr/>
        </p:nvSpPr>
        <p:spPr bwMode="auto">
          <a:xfrm>
            <a:off x="455613" y="215582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3" name="Rectangle 7549">
            <a:extLst>
              <a:ext uri="{FF2B5EF4-FFF2-40B4-BE49-F238E27FC236}">
                <a16:creationId xmlns:a16="http://schemas.microsoft.com/office/drawing/2014/main" id="{DC14B868-38B7-917E-85D6-66A7C063C198}"/>
              </a:ext>
            </a:extLst>
          </p:cNvPr>
          <p:cNvSpPr>
            <a:spLocks noChangeArrowheads="1"/>
          </p:cNvSpPr>
          <p:nvPr/>
        </p:nvSpPr>
        <p:spPr bwMode="auto">
          <a:xfrm>
            <a:off x="45243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4" name="Rectangle 7550">
            <a:extLst>
              <a:ext uri="{FF2B5EF4-FFF2-40B4-BE49-F238E27FC236}">
                <a16:creationId xmlns:a16="http://schemas.microsoft.com/office/drawing/2014/main" id="{39269BB2-5E43-1760-F6A5-9F39D2C8C075}"/>
              </a:ext>
            </a:extLst>
          </p:cNvPr>
          <p:cNvSpPr>
            <a:spLocks noChangeArrowheads="1"/>
          </p:cNvSpPr>
          <p:nvPr/>
        </p:nvSpPr>
        <p:spPr bwMode="auto">
          <a:xfrm>
            <a:off x="8204243" y="2151606"/>
            <a:ext cx="7558087" cy="10793609"/>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5" name="Rectangle 7551">
            <a:extLst>
              <a:ext uri="{FF2B5EF4-FFF2-40B4-BE49-F238E27FC236}">
                <a16:creationId xmlns:a16="http://schemas.microsoft.com/office/drawing/2014/main" id="{91260D70-1FC5-B738-8686-651FAFB295CF}"/>
              </a:ext>
            </a:extLst>
          </p:cNvPr>
          <p:cNvSpPr>
            <a:spLocks noChangeArrowheads="1"/>
          </p:cNvSpPr>
          <p:nvPr/>
        </p:nvSpPr>
        <p:spPr bwMode="auto">
          <a:xfrm>
            <a:off x="823118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7" name="Rectangle 7557">
            <a:extLst>
              <a:ext uri="{FF2B5EF4-FFF2-40B4-BE49-F238E27FC236}">
                <a16:creationId xmlns:a16="http://schemas.microsoft.com/office/drawing/2014/main" id="{C955B637-17F8-2EF1-E70E-D3084D05E8A5}"/>
              </a:ext>
            </a:extLst>
          </p:cNvPr>
          <p:cNvSpPr>
            <a:spLocks noChangeArrowheads="1"/>
          </p:cNvSpPr>
          <p:nvPr/>
        </p:nvSpPr>
        <p:spPr bwMode="auto">
          <a:xfrm>
            <a:off x="4091742" y="20455921"/>
            <a:ext cx="45085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1600" dirty="0">
                <a:solidFill>
                  <a:schemeClr val="accent4"/>
                </a:solidFill>
                <a:ea typeface="宋体" panose="02010600030101010101" pitchFamily="2" charset="-122"/>
              </a:rPr>
              <a:t>Fig. 2.  Correlation plot</a:t>
            </a:r>
            <a:endParaRPr lang="en-US" altLang="zh-CN" sz="1600" dirty="0">
              <a:solidFill>
                <a:schemeClr val="accent4"/>
              </a:solidFill>
              <a:ea typeface="宋体" panose="02010600030101010101" pitchFamily="2" charset="-122"/>
            </a:endParaRPr>
          </a:p>
        </p:txBody>
      </p:sp>
      <p:pic>
        <p:nvPicPr>
          <p:cNvPr id="3118" name="Picture 7558">
            <a:extLst>
              <a:ext uri="{FF2B5EF4-FFF2-40B4-BE49-F238E27FC236}">
                <a16:creationId xmlns:a16="http://schemas.microsoft.com/office/drawing/2014/main" id="{89015D31-F43E-A7D7-5038-C3C232E1EC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9115" b="19115"/>
          <a:stretch/>
        </p:blipFill>
        <p:spPr bwMode="auto">
          <a:xfrm>
            <a:off x="4351818" y="18396519"/>
            <a:ext cx="3371850" cy="2122108"/>
          </a:xfrm>
          <a:prstGeom prst="rect">
            <a:avLst/>
          </a:prstGeom>
          <a:solidFill>
            <a:schemeClr val="bg1"/>
          </a:solidFill>
          <a:ln>
            <a:solidFill>
              <a:schemeClr val="accent4">
                <a:lumMod val="95000"/>
                <a:lumOff val="5000"/>
              </a:schemeClr>
            </a:solidFill>
          </a:ln>
        </p:spPr>
      </p:pic>
      <p:sp>
        <p:nvSpPr>
          <p:cNvPr id="3119" name="Rectangle 7563">
            <a:extLst>
              <a:ext uri="{FF2B5EF4-FFF2-40B4-BE49-F238E27FC236}">
                <a16:creationId xmlns:a16="http://schemas.microsoft.com/office/drawing/2014/main" id="{26BA0C37-CCC4-E8A8-4155-F1243E9674FC}"/>
              </a:ext>
            </a:extLst>
          </p:cNvPr>
          <p:cNvSpPr>
            <a:spLocks noChangeArrowheads="1"/>
          </p:cNvSpPr>
          <p:nvPr/>
        </p:nvSpPr>
        <p:spPr bwMode="auto">
          <a:xfrm>
            <a:off x="7151933" y="7061713"/>
            <a:ext cx="56308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1600" dirty="0">
                <a:solidFill>
                  <a:schemeClr val="accent4"/>
                </a:solidFill>
                <a:ea typeface="宋体" panose="02010600030101010101" pitchFamily="2" charset="-122"/>
              </a:rPr>
              <a:t>Fig. 3. </a:t>
            </a:r>
            <a:r>
              <a:rPr lang="en-US" altLang="zh-CN" sz="1600" dirty="0">
                <a:solidFill>
                  <a:schemeClr val="accent4"/>
                </a:solidFill>
                <a:ea typeface="宋体" panose="02010600030101010101" pitchFamily="2" charset="-122"/>
              </a:rPr>
              <a:t>Fitted value plot</a:t>
            </a:r>
          </a:p>
        </p:txBody>
      </p:sp>
      <p:sp>
        <p:nvSpPr>
          <p:cNvPr id="3120" name="Text Box 7573">
            <a:extLst>
              <a:ext uri="{FF2B5EF4-FFF2-40B4-BE49-F238E27FC236}">
                <a16:creationId xmlns:a16="http://schemas.microsoft.com/office/drawing/2014/main" id="{57D1D520-A899-8BD4-3123-22B596055427}"/>
              </a:ext>
            </a:extLst>
          </p:cNvPr>
          <p:cNvSpPr txBox="1">
            <a:spLocks noChangeArrowheads="1"/>
          </p:cNvSpPr>
          <p:nvPr/>
        </p:nvSpPr>
        <p:spPr bwMode="auto">
          <a:xfrm>
            <a:off x="485768" y="7798493"/>
            <a:ext cx="7469187" cy="1332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chemeClr val="accent4"/>
                </a:solidFill>
                <a:ea typeface="宋体" panose="02010600030101010101" pitchFamily="2" charset="-122"/>
              </a:rPr>
              <a:t>Literature Review</a:t>
            </a:r>
          </a:p>
          <a:p>
            <a:pPr>
              <a:spcBef>
                <a:spcPts val="425"/>
              </a:spcBef>
              <a:spcAft>
                <a:spcPts val="850"/>
              </a:spcAft>
            </a:pPr>
            <a:r>
              <a:rPr lang="en-US" altLang="zh-CN" sz="1700" dirty="0">
                <a:solidFill>
                  <a:schemeClr val="accent4"/>
                </a:solidFill>
                <a:ea typeface="宋体" panose="02010600030101010101" pitchFamily="2" charset="-122"/>
              </a:rPr>
              <a:t>Insert lit review here.</a:t>
            </a:r>
          </a:p>
          <a:p>
            <a:endParaRPr lang="en-US" altLang="zh-CN" sz="800" dirty="0">
              <a:solidFill>
                <a:schemeClr val="accent4"/>
              </a:solidFill>
              <a:ea typeface="宋体" panose="02010600030101010101" pitchFamily="2" charset="-122"/>
            </a:endParaRPr>
          </a:p>
          <a:p>
            <a:endParaRPr lang="en-GB" altLang="zh-CN" sz="1700" dirty="0">
              <a:solidFill>
                <a:schemeClr val="accent4"/>
              </a:solidFill>
              <a:ea typeface="宋体" panose="02010600030101010101" pitchFamily="2" charset="-122"/>
            </a:endParaRPr>
          </a:p>
        </p:txBody>
      </p:sp>
      <p:sp>
        <p:nvSpPr>
          <p:cNvPr id="3122" name="Rectangle 7576">
            <a:extLst>
              <a:ext uri="{FF2B5EF4-FFF2-40B4-BE49-F238E27FC236}">
                <a16:creationId xmlns:a16="http://schemas.microsoft.com/office/drawing/2014/main" id="{E3BF413E-F2F7-2211-BA8C-B9D7D27435B7}"/>
              </a:ext>
            </a:extLst>
          </p:cNvPr>
          <p:cNvSpPr>
            <a:spLocks noChangeArrowheads="1"/>
          </p:cNvSpPr>
          <p:nvPr/>
        </p:nvSpPr>
        <p:spPr bwMode="auto">
          <a:xfrm>
            <a:off x="9646553" y="18475277"/>
            <a:ext cx="45085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1600" dirty="0">
                <a:solidFill>
                  <a:srgbClr val="339966"/>
                </a:solidFill>
                <a:ea typeface="宋体" panose="02010600030101010101" pitchFamily="2" charset="-122"/>
              </a:rPr>
              <a:t>Fig. 4.  Title of the Figure. (16 point font)</a:t>
            </a:r>
            <a:endParaRPr lang="en-US" altLang="zh-CN" sz="1600" dirty="0">
              <a:solidFill>
                <a:srgbClr val="339966"/>
              </a:solidFill>
              <a:ea typeface="宋体" panose="02010600030101010101" pitchFamily="2" charset="-122"/>
            </a:endParaRPr>
          </a:p>
        </p:txBody>
      </p:sp>
      <p:pic>
        <p:nvPicPr>
          <p:cNvPr id="3127" name="图片 2">
            <a:extLst>
              <a:ext uri="{FF2B5EF4-FFF2-40B4-BE49-F238E27FC236}">
                <a16:creationId xmlns:a16="http://schemas.microsoft.com/office/drawing/2014/main" id="{34460AF3-1D1D-0A74-0DCC-F3A8D98A06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8321011" y="3652382"/>
            <a:ext cx="3292709" cy="3292709"/>
          </a:xfrm>
          <a:prstGeom prst="rect">
            <a:avLst/>
          </a:prstGeom>
          <a:noFill/>
          <a:ln w="9525">
            <a:solidFill>
              <a:schemeClr val="accent4">
                <a:lumMod val="95000"/>
                <a:lumOff val="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3128" name="图片 1">
            <a:extLst>
              <a:ext uri="{FF2B5EF4-FFF2-40B4-BE49-F238E27FC236}">
                <a16:creationId xmlns:a16="http://schemas.microsoft.com/office/drawing/2014/main" id="{3C0314B0-DAF5-9EC0-3D23-BF58014A859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324166" y="14417910"/>
            <a:ext cx="7153275"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graph on a black background&#10;&#10;AI-generated content may be incorrect.">
            <a:extLst>
              <a:ext uri="{FF2B5EF4-FFF2-40B4-BE49-F238E27FC236}">
                <a16:creationId xmlns:a16="http://schemas.microsoft.com/office/drawing/2014/main" id="{F407458E-35BE-87ED-203D-24CD48D379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3613" y="18366582"/>
            <a:ext cx="3288129" cy="2082800"/>
          </a:xfrm>
          <a:prstGeom prst="rect">
            <a:avLst/>
          </a:prstGeom>
          <a:solidFill>
            <a:schemeClr val="bg1"/>
          </a:solidFill>
          <a:ln>
            <a:solidFill>
              <a:schemeClr val="accent4">
                <a:lumMod val="95000"/>
                <a:lumOff val="5000"/>
              </a:schemeClr>
            </a:solidFill>
          </a:ln>
        </p:spPr>
      </p:pic>
      <p:graphicFrame>
        <p:nvGraphicFramePr>
          <p:cNvPr id="9" name="Group 7555">
            <a:extLst>
              <a:ext uri="{FF2B5EF4-FFF2-40B4-BE49-F238E27FC236}">
                <a16:creationId xmlns:a16="http://schemas.microsoft.com/office/drawing/2014/main" id="{4F2F811D-E0B0-E27E-DBB6-482D53836E46}"/>
              </a:ext>
            </a:extLst>
          </p:cNvPr>
          <p:cNvGraphicFramePr>
            <a:graphicFrameLocks/>
          </p:cNvGraphicFramePr>
          <p:nvPr>
            <p:extLst>
              <p:ext uri="{D42A27DB-BD31-4B8C-83A1-F6EECF244321}">
                <p14:modId xmlns:p14="http://schemas.microsoft.com/office/powerpoint/2010/main" val="3636103655"/>
              </p:ext>
            </p:extLst>
          </p:nvPr>
        </p:nvGraphicFramePr>
        <p:xfrm>
          <a:off x="8712230" y="11019472"/>
          <a:ext cx="6804025" cy="1679579"/>
        </p:xfrm>
        <a:graphic>
          <a:graphicData uri="http://schemas.openxmlformats.org/drawingml/2006/table">
            <a:tbl>
              <a:tblPr/>
              <a:tblGrid>
                <a:gridCol w="1166812">
                  <a:extLst>
                    <a:ext uri="{9D8B030D-6E8A-4147-A177-3AD203B41FA5}">
                      <a16:colId xmlns:a16="http://schemas.microsoft.com/office/drawing/2014/main" val="20000"/>
                    </a:ext>
                  </a:extLst>
                </a:gridCol>
                <a:gridCol w="1851025">
                  <a:extLst>
                    <a:ext uri="{9D8B030D-6E8A-4147-A177-3AD203B41FA5}">
                      <a16:colId xmlns:a16="http://schemas.microsoft.com/office/drawing/2014/main" val="20001"/>
                    </a:ext>
                  </a:extLst>
                </a:gridCol>
                <a:gridCol w="1843088">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655631">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Model</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Feature extraction</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Reprocessing</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a:ln>
                            <a:noFill/>
                          </a:ln>
                          <a:solidFill>
                            <a:srgbClr val="339966"/>
                          </a:solidFill>
                          <a:effectLst/>
                          <a:latin typeface="Times New Roman" pitchFamily="18" charset="0"/>
                          <a:ea typeface="宋体" pitchFamily="2" charset="-122"/>
                        </a:rPr>
                        <a:t>Classification</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accent4"/>
                          </a:solidFill>
                          <a:effectLst/>
                          <a:latin typeface="Times New Roman" pitchFamily="18" charset="0"/>
                          <a:ea typeface="宋体" pitchFamily="2" charset="-122"/>
                        </a:rPr>
                        <a:t>Log Reg</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rowSpan="2">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&gt;200,000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rowSpan="2">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~10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a:ln>
                            <a:noFill/>
                          </a:ln>
                          <a:solidFill>
                            <a:srgbClr val="339966"/>
                          </a:solidFill>
                          <a:effectLst/>
                          <a:latin typeface="Times New Roman" pitchFamily="18" charset="0"/>
                          <a:ea typeface="宋体" pitchFamily="2" charset="-122"/>
                        </a:rPr>
                        <a:t>~200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chemeClr val="accent4"/>
                          </a:solidFill>
                          <a:effectLst/>
                          <a:latin typeface="Times New Roman" pitchFamily="18" charset="0"/>
                          <a:ea typeface="宋体" pitchFamily="2" charset="-122"/>
                        </a:rPr>
                        <a:t>Class Tree</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rgbClr val="339966"/>
                          </a:solidFill>
                          <a:effectLst/>
                          <a:latin typeface="Times New Roman" pitchFamily="18" charset="0"/>
                          <a:ea typeface="宋体" pitchFamily="2" charset="-122"/>
                        </a:rPr>
                        <a:t>~10,000 flops</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316">
                <a:tc>
                  <a:txBody>
                    <a:bodyPr/>
                    <a:lstStyle/>
                    <a:p>
                      <a:pPr marL="0" marR="0" lvl="0" indent="0" algn="ctr" defTabSz="974725" rtl="0" eaLnBrk="0" fontAlgn="base" latinLnBrk="0" hangingPunct="0">
                        <a:lnSpc>
                          <a:spcPct val="100000"/>
                        </a:lnSpc>
                        <a:spcBef>
                          <a:spcPct val="0"/>
                        </a:spcBef>
                        <a:spcAft>
                          <a:spcPct val="0"/>
                        </a:spcAft>
                        <a:buClrTx/>
                        <a:buSzTx/>
                        <a:buFontTx/>
                        <a:buNone/>
                        <a:tabLst/>
                      </a:pPr>
                      <a:r>
                        <a:rPr kumimoji="0" lang="en-GB" altLang="zh-CN" sz="1600" b="0" i="0" u="none" strike="noStrike" cap="none" normalizeH="0" baseline="0" dirty="0">
                          <a:ln>
                            <a:noFill/>
                          </a:ln>
                          <a:solidFill>
                            <a:schemeClr val="accent4"/>
                          </a:solidFill>
                          <a:effectLst/>
                          <a:latin typeface="Times New Roman" pitchFamily="18" charset="0"/>
                          <a:ea typeface="宋体" pitchFamily="2" charset="-122"/>
                        </a:rPr>
                        <a:t>SVM</a:t>
                      </a: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dirty="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dirty="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tc>
                  <a:txBody>
                    <a:bodyPr/>
                    <a:lstStyle/>
                    <a:p>
                      <a:pPr marL="0" marR="0" lvl="0" indent="0" algn="ctr" defTabSz="974725" rtl="0" eaLnBrk="0" fontAlgn="base" latinLnBrk="0" hangingPunct="0">
                        <a:lnSpc>
                          <a:spcPct val="100000"/>
                        </a:lnSpc>
                        <a:spcBef>
                          <a:spcPct val="0"/>
                        </a:spcBef>
                        <a:spcAft>
                          <a:spcPct val="0"/>
                        </a:spcAft>
                        <a:buClrTx/>
                        <a:buSzTx/>
                        <a:buFontTx/>
                        <a:buNone/>
                        <a:tabLst/>
                      </a:pPr>
                      <a:endParaRPr kumimoji="0" lang="en-GB" altLang="zh-CN" sz="1600" b="0" i="0" u="none" strike="noStrike" cap="none" normalizeH="0" baseline="0" dirty="0">
                        <a:ln>
                          <a:noFill/>
                        </a:ln>
                        <a:solidFill>
                          <a:srgbClr val="339966"/>
                        </a:solidFill>
                        <a:effectLst/>
                        <a:latin typeface="Times New Roman" pitchFamily="18" charset="0"/>
                        <a:ea typeface="宋体" pitchFamily="2" charset="-122"/>
                      </a:endParaRPr>
                    </a:p>
                  </a:txBody>
                  <a:tcPr marL="97475" marR="97475" marT="48738" marB="48738" anchor="ctr"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12700" cap="flat" cmpd="sng" algn="ctr">
                      <a:solidFill>
                        <a:srgbClr val="339966"/>
                      </a:solidFill>
                      <a:prstDash val="solid"/>
                      <a:round/>
                      <a:headEnd type="none" w="med" len="med"/>
                      <a:tailEnd type="none" w="med" len="med"/>
                    </a:lnT>
                    <a:lnB w="127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7326639"/>
                  </a:ext>
                </a:extLst>
              </a:tr>
            </a:tbl>
          </a:graphicData>
        </a:graphic>
      </p:graphicFrame>
      <p:pic>
        <p:nvPicPr>
          <p:cNvPr id="13" name="Picture 12" descr="A graph with a line&#10;&#10;AI-generated content may be incorrect.">
            <a:extLst>
              <a:ext uri="{FF2B5EF4-FFF2-40B4-BE49-F238E27FC236}">
                <a16:creationId xmlns:a16="http://schemas.microsoft.com/office/drawing/2014/main" id="{8BF95A9B-DA50-15F6-0B8C-BF6A74CCEC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839551" y="3667570"/>
            <a:ext cx="3462261" cy="3462261"/>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10852</TotalTime>
  <Words>420</Words>
  <Application>Microsoft Macintosh PowerPoint</Application>
  <PresentationFormat>Custom</PresentationFormat>
  <Paragraphs>60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Times New Roman</vt:lpstr>
      <vt:lpstr>Arial</vt:lpstr>
      <vt:lpstr>等线</vt:lpstr>
      <vt:lpstr>宋体</vt:lpstr>
      <vt:lpstr>Default Design</vt:lpstr>
      <vt:lpstr>Wage Inequality in the U.S. Labor Market</vt:lpstr>
    </vt:vector>
  </TitlesOfParts>
  <Company>IMMPETUS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ASEMD13</dc:creator>
  <cp:lastModifiedBy>Layne DiBuono</cp:lastModifiedBy>
  <cp:revision>249</cp:revision>
  <cp:lastPrinted>2000-05-22T15:29:58Z</cp:lastPrinted>
  <dcterms:created xsi:type="dcterms:W3CDTF">2000-03-21T10:33:07Z</dcterms:created>
  <dcterms:modified xsi:type="dcterms:W3CDTF">2025-12-01T23:31:13Z</dcterms:modified>
</cp:coreProperties>
</file>